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a70a8f83-7835-7923-8d7a-f47de41aa94c}">
          <p14:sldIdLst>
            <p14:sldId id="256"/>
            <p14:sldId id="257"/>
          </p14:sldIdLst>
        </p14:section>
        <p14:section name="Problema y producto" id="{f985e1cb-539b-993f-4878-fafca7ccc956}">
          <p14:sldIdLst>
            <p14:sldId id="258"/>
            <p14:sldId id="259"/>
          </p14:sldIdLst>
        </p14:section>
        <p14:section name="Metodología y avance" id="{b7cf43bf-7d51-ef86-4a32-a020268c0345}">
          <p14:sldIdLst>
            <p14:sldId id="260"/>
            <p14:sldId id="261"/>
            <p14:sldId id="262"/>
            <p14:sldId id="263"/>
          </p14:sldIdLst>
        </p14:section>
        <p14:section name="Perfil y proyección" id="{cbaea018-943f-793f-8da9-6f2778f03ab9}">
          <p14:sldIdLst>
            <p14:sldId id="264"/>
            <p14:sldId id="265"/>
          </p14:sldIdLst>
        </p14:section>
        <p14:section name="Cierre" id="{1301fd83-f090-8d30-4ce3-dd921bbb7a06}">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Gonzalo (10 segundos).
Buenos días. Somos Joaquín Romero y Gonzalo Arenas, y presentamos el avance de la Fase 2 de Mira, un sistema de gestión y trazabilidad de equipos de geomensura.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Gonzalo (15 segundos).
Recorremos el problema que abordamos, el producto, cómo lo estamos construyendo, el avance contra el plan, las competencias que el proyecto pone en juego y cómo se vincula con nuestro desarrollo profesional. Al final mostramos el sistema funcionando en un video de tres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Gonzalo (45 segundos).
La empresa vende y arrienda estaciones totales, GPS RTK, drones y niveles, y administra su inventario en planillas repartidas entre bodegas. Esas planillas cuentan cantidades, no equipos: dicen que hay cinco GPS, pero no cuál está en qué bodega ni si alguno está arrendado. Por eso la pregunta más básica del negocio, si hay un GPS disponible para el lunes, puede tomar horas en responderse, y los arriendos vencidos pasan inadvertidos. El problema no es la falta de registro: es que la herramienta no representa un negocio donde los equipos cambian de estado todos los días.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Gonzalo (45 segundos).
Mira registra cada equipo como una unidad individual, identificada por su número de serie, con un estado único y un historial de movimientos. Sobre ese registro se construyen las ventas, los arriendos con control de retorno, las capacitaciones, los documentos y el panel de indicadores. A la derecha se ve el sistema real: el listado de equipos que ya construimos en el Sprint 2. Dejamos fuera de forma deliberada la integración con el SII y la facturación, para asegurar la calidad de lo comprometido.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Joaquín (45 segundos).
Trabajamos con un marco ágil basado en Scrum. Tras el monitoreo de la semana 6 formalizamos los sprints de dos semanas, cada uno con un objetivo en una frase y una demostración al cierre. Por sugerencia del docente, desde la semana 8 trabajamos con una rama por semana, que se integra mediante un pull request revisado por el otro integrante. Ninguna historia se da por terminada sin su prueba automatizada y su captura como evidencia. Los artefactos del marco, el Product Vision, el Backlog, la Definition of Done y el Documento de Diseño, están en el repositorio.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Joaquín (60 segundos).
La Fase 1 se cumplió completa y a tiempo. En la Fase 2 acumulamos cerca de dos semanas de atraso: la implementación del modelo de datos estaba comprometida para las semanas 5 y 6 y se concretó en la semana 8. Hoy el esquema completo está en PostgreSQL y el núcleo del sistema está en curso: el Sprint 2 dejó funcionando el acceso por rol, los usuarios, las bodegas y el registro de equipos. Los módulos de operaciones, el panel y la implantación no han comenzado, pero están dentro de su plazo. Si el atraso persiste al cierre del Sprint 3, priorizaremos las épicas E001 a E006, previa consulta con el docente.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Joaquín (40 segundos).
En cifras: terminamos 8 de las 28 historias del backlog, que equivalen a 24 de los 100 puntos de función. El modelo de datos está implementado completo, con 14 tablas creadas mediante migraciones versionadas. Tenemos 29 pruebas automatizadas, que verifican las reglas de negocio, los permisos por rol y las migraciones. Y el historial del repositorio registra 48 commits con la autoría de cada integrante, 29 de Joaquín y 19 de Gonzalo.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Joaquín (45 segundos).
Enfrentamos cuatro dificultades. La empresa no continuó la colaboración: consultamos al docente y seguimos con los supuestos del modelo declarados como decisiones de diseño. La más importante fue nuestra: el plan tenía rangos de semanas pero no hitos verificables, y eso permitió que el desarrollo se detuviera; lo corregimos con sprints, una definición de terminado y una rama por semana. También resolvimos el bloqueo del entorno. Y al probar las migraciones descubrimos que Flyway no se estaba ejecutando: lo corregimos y agregamos una prueba que lo verifica, que es exactamente para lo que sirven las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Gonzalo (45 segundos).
El proyecto moviliza cuatro competencias del perfil de egreso, y lo hace de forma encadenada. Gestionamos el proyecto: definimos el alcance, planificamos y, cuando hubo atraso, ofrecimos alternativas. Construimos el modelo de datos, que es el centro del proyecto: sin representar cada equipo como unidad individual no hay trazabilidad. Desarrollamos la solución en capas, con seguridad por rol y transacciones. Y realizamos pruebas de certificación: diseñamos treinta casos de prueba, automatizamos las pruebas de cada historia y corregimos el producto a partir de sus resultados.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Presentan: cada uno su columna (30 segundos cada uno).
Joaquín: [lee o parafrasea su columna, en primera persona].
Gonzalo: [lee o parafrasea su columna, en primera persona].
Consejo: no leer textual; contar un ejemplo concreto de su trabajo en 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Joaquín (20 segundos).
Lo que sigue: en el Sprint 3, los traslados y la disponibilidad consolidada; en el Sprint 4, los arriendos con control de retorno y las ventas, que es la parte más exigente; en el Sprint 5, capacitaciones, documentos y el panel; y en la semana 16, la implantación con Docker. A continuación, el sistema funcionando.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2E3A3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858000" cy="1188720"/>
          </a:xfrm>
          <a:prstGeom prst="rect">
            <a:avLst/>
          </a:prstGeom>
          <a:noFill/>
          <a:ln/>
        </p:spPr>
        <p:txBody>
          <a:bodyPr wrap="square" rtlCol="0"/>
          <a:lstStyle>
            <a:lvl1pPr algn="l" indent="0" marL="0">
              <a:buNone/>
              <a:defRPr lang="en-US" sz="6000" b="1" spc="600" kern="0"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731520" y="3017520"/>
            <a:ext cx="6858000" cy="2377440"/>
          </a:xfrm>
          <a:prstGeom prst="rect">
            <a:avLst/>
          </a:prstGeom>
          <a:noFill/>
          <a:ln/>
        </p:spPr>
        <p:txBody>
          <a:bodyPr wrap="square" rtlCol="0"/>
          <a:lstStyle>
            <a:lvl1pPr algn="l" indent="0" marL="0">
              <a:buNone/>
              <a:defRPr lang="en-US" sz="1800" dirty="0">
                <a:solidFill>
                  <a:schemeClr val="accent5"/>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4008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ph idx="101" type="body" hasCustomPrompt="1"/>
          </p:nvPr>
        </p:nvSpPr>
        <p:spPr>
          <a:xfrm>
            <a:off x="548640" y="960120"/>
            <a:ext cx="11064240" cy="411480"/>
          </a:xfrm>
          <a:prstGeom prst="rect">
            <a:avLst/>
          </a:prstGeom>
          <a:noFill/>
          <a:ln/>
        </p:spPr>
        <p:txBody>
          <a:bodyPr wrap="square" rtlCol="0"/>
          <a:lstStyle>
            <a:lvl1pPr algn="l" indent="0" marL="0">
              <a:buNone/>
              <a:defRPr lang="en-US" sz="1500" i="1" dirty="0">
                <a:solidFill>
                  <a:schemeClr val="accent4"/>
                </a:solidFill>
              </a:defRPr>
            </a:lvl1pPr>
          </a:lstStyle>
          <a:p>
            <a:pPr algn="l" indent="0" marL="0">
              <a:buNone/>
            </a:pPr>
            <a:endParaRPr lang="en-US" sz="1500" dirty="0"/>
          </a:p>
        </p:txBody>
      </p:sp>
      <p:sp>
        <p:nvSpPr>
          <p:cNvPr id="4" name="Text 0"/>
          <p:cNvSpPr/>
          <p:nvPr/>
        </p:nvSpPr>
        <p:spPr>
          <a:xfrm>
            <a:off x="548640" y="6400800"/>
            <a:ext cx="5486400" cy="274320"/>
          </a:xfrm>
          <a:prstGeom prst="rect">
            <a:avLst/>
          </a:prstGeom>
          <a:noFill/>
          <a:ln/>
        </p:spPr>
        <p:txBody>
          <a:bodyPr wrap="square" rtlCol="0" anchor="ctr"/>
          <a:lstStyle/>
          <a:p>
            <a:pPr indent="0" marL="0">
              <a:buNone/>
            </a:pPr>
            <a:r>
              <a:rPr lang="en-US" sz="1000" dirty="0">
                <a:solidFill>
                  <a:schemeClr val="accent4"/>
                </a:solidFill>
              </a:rPr>
              <a:t>Mira · Informe de avance · Fase 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SCURO">
    <p:bg>
      <p:bgPr>
        <a:solidFill>
          <a:srgbClr val="2E3A3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51560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595360" y="-182880"/>
            <a:ext cx="3291840" cy="3291840"/>
          </a:xfrm>
          <a:prstGeom prst="ellipse">
            <a:avLst/>
          </a:prstGeom>
          <a:solidFill>
            <a:srgbClr val="3A484E"/>
          </a:solidFill>
          <a:ln w="12700">
            <a:solidFill>
              <a:srgbClr val="3A484E"/>
            </a:solidFill>
            <a:prstDash val="solid"/>
          </a:ln>
        </p:spPr>
      </p:sp>
      <p:sp>
        <p:nvSpPr>
          <p:cNvPr id="3" name="Shape 1"/>
          <p:cNvSpPr/>
          <p:nvPr/>
        </p:nvSpPr>
        <p:spPr>
          <a:xfrm>
            <a:off x="9052560" y="274320"/>
            <a:ext cx="2377440" cy="2377440"/>
          </a:xfrm>
          <a:prstGeom prst="ellipse">
            <a:avLst/>
          </a:prstGeom>
          <a:solidFill>
            <a:srgbClr val="46555B"/>
          </a:solidFill>
          <a:ln w="12700">
            <a:solidFill>
              <a:srgbClr val="46555B"/>
            </a:solidFill>
            <a:prstDash val="solid"/>
          </a:ln>
        </p:spPr>
      </p:sp>
      <p:sp>
        <p:nvSpPr>
          <p:cNvPr id="4" name="Shape 2"/>
          <p:cNvSpPr/>
          <p:nvPr/>
        </p:nvSpPr>
        <p:spPr>
          <a:xfrm>
            <a:off x="9555480" y="777240"/>
            <a:ext cx="1371600" cy="1371600"/>
          </a:xfrm>
          <a:prstGeom prst="ellipse">
            <a:avLst/>
          </a:prstGeom>
          <a:solidFill>
            <a:srgbClr val="B85042"/>
          </a:solidFill>
          <a:ln w="12700">
            <a:solidFill>
              <a:srgbClr val="B85042"/>
            </a:solidFill>
            <a:prstDash val="solid"/>
          </a:ln>
        </p:spPr>
      </p:sp>
      <p:sp>
        <p:nvSpPr>
          <p:cNvPr id="5" name="Text 0"/>
          <p:cNvSpPr/>
          <p:nvPr>
            <p:ph idx="100" type="title" hasCustomPrompt="1"/>
          </p:nvPr>
        </p:nvSpPr>
        <p:spPr>
          <a:xfrm>
            <a:off x="731520" y="1828800"/>
            <a:ext cx="6858000" cy="1188720"/>
          </a:xfrm>
          <a:prstGeom prst="rect">
            <a:avLst/>
          </a:prstGeom>
          <a:noFill/>
          <a:ln/>
        </p:spPr>
        <p:txBody>
          <a:bodyPr wrap="square" rtlCol="0"/>
          <a:lstStyle/>
          <a:p>
            <a:pPr algn="l" indent="0" marL="0">
              <a:buNone/>
            </a:pPr>
            <a:r>
              <a:rPr lang="en-US" sz="6000" b="1" spc="600" kern="0" dirty="0">
                <a:solidFill>
                  <a:schemeClr val="bg1"/>
                </a:solidFill>
              </a:rPr>
              <a:t>MIRA</a:t>
            </a:r>
            <a:endParaRPr lang="en-US" sz="6000" dirty="0"/>
          </a:p>
        </p:txBody>
      </p:sp>
      <p:sp>
        <p:nvSpPr>
          <p:cNvPr id="6" name="Text 0"/>
          <p:cNvSpPr/>
          <p:nvPr>
            <p:ph idx="101" type="body" hasCustomPrompt="1"/>
          </p:nvPr>
        </p:nvSpPr>
        <p:spPr>
          <a:xfrm>
            <a:off x="731520" y="3017520"/>
            <a:ext cx="6858000" cy="2377440"/>
          </a:xfrm>
          <a:prstGeom prst="rect">
            <a:avLst/>
          </a:prstGeom>
          <a:noFill/>
          <a:ln/>
        </p:spPr>
        <p:txBody>
          <a:bodyPr wrap="square" rtlCol="0" anchor="t"/>
          <a:lstStyle/>
          <a:p>
            <a:pPr algn="l" indent="0" marL="0">
              <a:buNone/>
            </a:pPr>
            <a:r>
              <a:rPr lang="en-US" sz="1800" dirty="0">
                <a:solidFill>
                  <a:schemeClr val="accent5"/>
                </a:solidFill>
              </a:rPr>
              <a:t>Sistema de gestión y trazabilidad de equipos de geomensura</a:t>
            </a:r>
            <a:endParaRPr lang="en-US" sz="1800" dirty="0"/>
          </a:p>
          <a:p>
            <a:pPr algn="l" indent="0" marL="0">
              <a:buNone/>
            </a:pPr>
            <a:r>
              <a:rPr lang="en-US" sz="1000" dirty="0">
                <a:solidFill>
                  <a:schemeClr val="accent5"/>
                </a:solidFill>
              </a:rPr>
              <a:t> </a:t>
            </a:r>
            <a:endParaRPr lang="en-US" sz="1800" dirty="0"/>
          </a:p>
          <a:p>
            <a:pPr algn="l" indent="0" marL="0">
              <a:buNone/>
            </a:pPr>
            <a:r>
              <a:rPr lang="en-US" sz="1500" b="1" dirty="0">
                <a:solidFill>
                  <a:schemeClr val="accent6"/>
                </a:solidFill>
              </a:rPr>
              <a:t>Informe de avance · Fase 2 · Evaluación sumativa 2</a:t>
            </a:r>
            <a:endParaRPr lang="en-US" sz="1800" dirty="0"/>
          </a:p>
          <a:p>
            <a:pPr algn="l" indent="0" marL="0">
              <a:buNone/>
            </a:pPr>
            <a:r>
              <a:rPr lang="en-US" sz="1000" dirty="0">
                <a:solidFill>
                  <a:schemeClr val="accent5"/>
                </a:solidFill>
              </a:rPr>
              <a:t> </a:t>
            </a:r>
            <a:endParaRPr lang="en-US" sz="1800" dirty="0"/>
          </a:p>
          <a:p>
            <a:pPr algn="l" indent="0" marL="0">
              <a:buNone/>
            </a:pPr>
            <a:r>
              <a:rPr lang="en-US" sz="1600" dirty="0">
                <a:solidFill>
                  <a:schemeClr val="bg1"/>
                </a:solidFill>
              </a:rPr>
              <a:t>Joaquín Romero · Gonzalo Arenas</a:t>
            </a:r>
            <a:endParaRPr lang="en-US" sz="1800" dirty="0"/>
          </a:p>
          <a:p>
            <a:pPr algn="l" indent="0" marL="0">
              <a:buNone/>
            </a:pPr>
            <a:r>
              <a:rPr lang="en-US" sz="1300" dirty="0">
                <a:solidFill>
                  <a:schemeClr val="accent5"/>
                </a:solidFill>
              </a:rPr>
              <a:t>Ingeniería en Informática · Duoc UC, sede Alameda · Capstone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40080"/>
          </a:xfrm>
          <a:prstGeom prst="rect">
            <a:avLst/>
          </a:prstGeom>
          <a:noFill/>
          <a:ln/>
        </p:spPr>
        <p:txBody>
          <a:bodyPr wrap="square" rtlCol="0" anchor="ctr"/>
          <a:lstStyle/>
          <a:p>
            <a:pPr algn="l" indent="0" marL="0">
              <a:buNone/>
            </a:pPr>
            <a:r>
              <a:rPr lang="en-US" sz="3200" b="1" dirty="0">
                <a:solidFill>
                  <a:schemeClr val="tx2"/>
                </a:solidFill>
              </a:rPr>
              <a:t>Temario</a:t>
            </a:r>
            <a:endParaRPr lang="en-US" sz="3200" dirty="0"/>
          </a:p>
        </p:txBody>
      </p:sp>
      <p:sp>
        <p:nvSpPr>
          <p:cNvPr id="3" name="Text 0"/>
          <p:cNvSpPr/>
          <p:nvPr>
            <p:ph idx="101" type="body" hasCustomPrompt="1"/>
          </p:nvPr>
        </p:nvSpPr>
        <p:spPr>
          <a:xfrm>
            <a:off x="548640" y="960120"/>
            <a:ext cx="11064240" cy="411480"/>
          </a:xfrm>
          <a:prstGeom prst="rect">
            <a:avLst/>
          </a:prstGeom>
          <a:noFill/>
          <a:ln/>
        </p:spPr>
        <p:txBody>
          <a:bodyPr wrap="square" rtlCol="0" anchor="t"/>
          <a:lstStyle/>
          <a:p>
            <a:pPr algn="l" indent="0" marL="0">
              <a:buNone/>
            </a:pPr>
            <a:r>
              <a:rPr lang="en-US" sz="1500" i="1" dirty="0">
                <a:solidFill>
                  <a:schemeClr val="accent4"/>
                </a:solidFill>
              </a:rPr>
              <a:t>Lo que presentamos en siete minutos, y quién lo expone</a:t>
            </a:r>
            <a:endParaRPr lang="en-US" sz="1500" dirty="0"/>
          </a:p>
        </p:txBody>
      </p:sp>
      <p:sp>
        <p:nvSpPr>
          <p:cNvPr id="4" name="tema-1"/>
          <p:cNvSpPr/>
          <p:nvPr/>
        </p:nvSpPr>
        <p:spPr>
          <a:xfrm>
            <a:off x="548640" y="1737360"/>
            <a:ext cx="3474720" cy="1828800"/>
          </a:xfrm>
          <a:prstGeom prst="roundRect">
            <a:avLst>
              <a:gd name="adj" fmla="val 4000"/>
            </a:avLst>
          </a:prstGeom>
          <a:solidFill>
            <a:srgbClr val="E7E8D1"/>
          </a:solidFill>
          <a:ln w="12700">
            <a:solidFill>
              <a:srgbClr val="E7E8D1"/>
            </a:solidFill>
            <a:prstDash val="solid"/>
          </a:ln>
        </p:spPr>
      </p:sp>
      <p:sp>
        <p:nvSpPr>
          <p:cNvPr id="5" name="Shape 3"/>
          <p:cNvSpPr/>
          <p:nvPr/>
        </p:nvSpPr>
        <p:spPr>
          <a:xfrm>
            <a:off x="822960" y="2011680"/>
            <a:ext cx="502920" cy="502920"/>
          </a:xfrm>
          <a:prstGeom prst="ellipse">
            <a:avLst/>
          </a:prstGeom>
          <a:solidFill>
            <a:schemeClr val="accent1"/>
          </a:solidFill>
          <a:ln w="12700">
            <a:solidFill>
              <a:schemeClr val="accent1"/>
            </a:solidFill>
            <a:prstDash val="solid"/>
          </a:ln>
        </p:spPr>
      </p:sp>
      <p:sp>
        <p:nvSpPr>
          <p:cNvPr id="6" name="Text 4"/>
          <p:cNvSpPr txBox="1"/>
          <p:nvPr/>
        </p:nvSpPr>
        <p:spPr>
          <a:xfrm>
            <a:off x="822960" y="201168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822960" y="2606040"/>
            <a:ext cx="3017520" cy="6400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El problema</a:t>
            </a:r>
            <a:endParaRPr lang="en-US" sz="1700" dirty="0"/>
          </a:p>
        </p:txBody>
      </p:sp>
      <p:sp>
        <p:nvSpPr>
          <p:cNvPr id="8" name="Text 6"/>
          <p:cNvSpPr txBox="1"/>
          <p:nvPr/>
        </p:nvSpPr>
        <p:spPr>
          <a:xfrm>
            <a:off x="822960" y="3200400"/>
            <a:ext cx="3017520" cy="320040"/>
          </a:xfrm>
          <a:prstGeom prst="rect">
            <a:avLst/>
          </a:prstGeom>
          <a:noFill/>
          <a:ln/>
        </p:spPr>
        <p:txBody>
          <a:bodyPr wrap="square" lIns="0" tIns="0" rIns="0" bIns="0" rtlCol="0" anchor="ctr"/>
          <a:lstStyle/>
          <a:p>
            <a:pPr indent="0" marL="0">
              <a:buNone/>
            </a:pPr>
            <a:r>
              <a:rPr lang="en-US" sz="1300" dirty="0">
                <a:solidFill>
                  <a:schemeClr val="accent1"/>
                </a:solidFill>
              </a:rPr>
              <a:t>Expone: Gonzalo</a:t>
            </a:r>
            <a:endParaRPr lang="en-US" sz="1300" dirty="0"/>
          </a:p>
        </p:txBody>
      </p:sp>
      <p:sp>
        <p:nvSpPr>
          <p:cNvPr id="9" name="tema-2"/>
          <p:cNvSpPr/>
          <p:nvPr/>
        </p:nvSpPr>
        <p:spPr>
          <a:xfrm>
            <a:off x="4297680" y="1737360"/>
            <a:ext cx="3474720" cy="1828800"/>
          </a:xfrm>
          <a:prstGeom prst="roundRect">
            <a:avLst>
              <a:gd name="adj" fmla="val 4000"/>
            </a:avLst>
          </a:prstGeom>
          <a:solidFill>
            <a:srgbClr val="F2F3EA"/>
          </a:solidFill>
          <a:ln w="12700">
            <a:solidFill>
              <a:srgbClr val="F2F3EA"/>
            </a:solidFill>
            <a:prstDash val="solid"/>
          </a:ln>
        </p:spPr>
      </p:sp>
      <p:sp>
        <p:nvSpPr>
          <p:cNvPr id="10" name="Shape 8"/>
          <p:cNvSpPr/>
          <p:nvPr/>
        </p:nvSpPr>
        <p:spPr>
          <a:xfrm>
            <a:off x="4572000" y="2011680"/>
            <a:ext cx="502920" cy="502920"/>
          </a:xfrm>
          <a:prstGeom prst="ellipse">
            <a:avLst/>
          </a:prstGeom>
          <a:solidFill>
            <a:schemeClr val="accent1"/>
          </a:solidFill>
          <a:ln w="12700">
            <a:solidFill>
              <a:schemeClr val="accent1"/>
            </a:solidFill>
            <a:prstDash val="solid"/>
          </a:ln>
        </p:spPr>
      </p:sp>
      <p:sp>
        <p:nvSpPr>
          <p:cNvPr id="11" name="Text 9"/>
          <p:cNvSpPr txBox="1"/>
          <p:nvPr/>
        </p:nvSpPr>
        <p:spPr>
          <a:xfrm>
            <a:off x="4572000" y="201168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10"/>
          <p:cNvSpPr txBox="1"/>
          <p:nvPr/>
        </p:nvSpPr>
        <p:spPr>
          <a:xfrm>
            <a:off x="4572000" y="2606040"/>
            <a:ext cx="3017520" cy="6400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El producto</a:t>
            </a:r>
            <a:endParaRPr lang="en-US" sz="1700" dirty="0"/>
          </a:p>
        </p:txBody>
      </p:sp>
      <p:sp>
        <p:nvSpPr>
          <p:cNvPr id="13" name="Text 11"/>
          <p:cNvSpPr txBox="1"/>
          <p:nvPr/>
        </p:nvSpPr>
        <p:spPr>
          <a:xfrm>
            <a:off x="4572000" y="3200400"/>
            <a:ext cx="3017520" cy="320040"/>
          </a:xfrm>
          <a:prstGeom prst="rect">
            <a:avLst/>
          </a:prstGeom>
          <a:noFill/>
          <a:ln/>
        </p:spPr>
        <p:txBody>
          <a:bodyPr wrap="square" lIns="0" tIns="0" rIns="0" bIns="0" rtlCol="0" anchor="ctr"/>
          <a:lstStyle/>
          <a:p>
            <a:pPr indent="0" marL="0">
              <a:buNone/>
            </a:pPr>
            <a:r>
              <a:rPr lang="en-US" sz="1300" dirty="0">
                <a:solidFill>
                  <a:schemeClr val="accent1"/>
                </a:solidFill>
              </a:rPr>
              <a:t>Expone: Gonzalo</a:t>
            </a:r>
            <a:endParaRPr lang="en-US" sz="1300" dirty="0"/>
          </a:p>
        </p:txBody>
      </p:sp>
      <p:sp>
        <p:nvSpPr>
          <p:cNvPr id="14" name="tema-3"/>
          <p:cNvSpPr/>
          <p:nvPr/>
        </p:nvSpPr>
        <p:spPr>
          <a:xfrm>
            <a:off x="8046720" y="1737360"/>
            <a:ext cx="3474720" cy="1828800"/>
          </a:xfrm>
          <a:prstGeom prst="roundRect">
            <a:avLst>
              <a:gd name="adj" fmla="val 4000"/>
            </a:avLst>
          </a:prstGeom>
          <a:solidFill>
            <a:srgbClr val="E7E8D1"/>
          </a:solidFill>
          <a:ln w="12700">
            <a:solidFill>
              <a:srgbClr val="E7E8D1"/>
            </a:solidFill>
            <a:prstDash val="solid"/>
          </a:ln>
        </p:spPr>
      </p:sp>
      <p:sp>
        <p:nvSpPr>
          <p:cNvPr id="15" name="Shape 13"/>
          <p:cNvSpPr/>
          <p:nvPr/>
        </p:nvSpPr>
        <p:spPr>
          <a:xfrm>
            <a:off x="8321040" y="2011680"/>
            <a:ext cx="502920" cy="502920"/>
          </a:xfrm>
          <a:prstGeom prst="ellipse">
            <a:avLst/>
          </a:prstGeom>
          <a:solidFill>
            <a:schemeClr val="accent1"/>
          </a:solidFill>
          <a:ln w="12700">
            <a:solidFill>
              <a:schemeClr val="accent1"/>
            </a:solidFill>
            <a:prstDash val="solid"/>
          </a:ln>
        </p:spPr>
      </p:sp>
      <p:sp>
        <p:nvSpPr>
          <p:cNvPr id="16" name="Text 14"/>
          <p:cNvSpPr txBox="1"/>
          <p:nvPr/>
        </p:nvSpPr>
        <p:spPr>
          <a:xfrm>
            <a:off x="8321040" y="201168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5"/>
          <p:cNvSpPr txBox="1"/>
          <p:nvPr/>
        </p:nvSpPr>
        <p:spPr>
          <a:xfrm>
            <a:off x="8321040" y="2606040"/>
            <a:ext cx="3017520" cy="6400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Metodología y evidencias</a:t>
            </a:r>
            <a:endParaRPr lang="en-US" sz="1700" dirty="0"/>
          </a:p>
        </p:txBody>
      </p:sp>
      <p:sp>
        <p:nvSpPr>
          <p:cNvPr id="18" name="Text 16"/>
          <p:cNvSpPr txBox="1"/>
          <p:nvPr/>
        </p:nvSpPr>
        <p:spPr>
          <a:xfrm>
            <a:off x="8321040" y="3200400"/>
            <a:ext cx="3017520" cy="320040"/>
          </a:xfrm>
          <a:prstGeom prst="rect">
            <a:avLst/>
          </a:prstGeom>
          <a:noFill/>
          <a:ln/>
        </p:spPr>
        <p:txBody>
          <a:bodyPr wrap="square" lIns="0" tIns="0" rIns="0" bIns="0" rtlCol="0" anchor="ctr"/>
          <a:lstStyle/>
          <a:p>
            <a:pPr indent="0" marL="0">
              <a:buNone/>
            </a:pPr>
            <a:r>
              <a:rPr lang="en-US" sz="1300" dirty="0">
                <a:solidFill>
                  <a:schemeClr val="accent1"/>
                </a:solidFill>
              </a:rPr>
              <a:t>Expone: Joaquín</a:t>
            </a:r>
            <a:endParaRPr lang="en-US" sz="1300" dirty="0"/>
          </a:p>
        </p:txBody>
      </p:sp>
      <p:sp>
        <p:nvSpPr>
          <p:cNvPr id="19" name="tema-4"/>
          <p:cNvSpPr/>
          <p:nvPr/>
        </p:nvSpPr>
        <p:spPr>
          <a:xfrm>
            <a:off x="548640" y="3886200"/>
            <a:ext cx="3474720" cy="1828800"/>
          </a:xfrm>
          <a:prstGeom prst="roundRect">
            <a:avLst>
              <a:gd name="adj" fmla="val 4000"/>
            </a:avLst>
          </a:prstGeom>
          <a:solidFill>
            <a:srgbClr val="F2F3EA"/>
          </a:solidFill>
          <a:ln w="12700">
            <a:solidFill>
              <a:srgbClr val="F2F3EA"/>
            </a:solidFill>
            <a:prstDash val="solid"/>
          </a:ln>
        </p:spPr>
      </p:sp>
      <p:sp>
        <p:nvSpPr>
          <p:cNvPr id="20" name="Shape 18"/>
          <p:cNvSpPr/>
          <p:nvPr/>
        </p:nvSpPr>
        <p:spPr>
          <a:xfrm>
            <a:off x="822960" y="4160520"/>
            <a:ext cx="502920" cy="502920"/>
          </a:xfrm>
          <a:prstGeom prst="ellipse">
            <a:avLst/>
          </a:prstGeom>
          <a:solidFill>
            <a:schemeClr val="accent1"/>
          </a:solidFill>
          <a:ln w="12700">
            <a:solidFill>
              <a:schemeClr val="accent1"/>
            </a:solidFill>
            <a:prstDash val="solid"/>
          </a:ln>
        </p:spPr>
      </p:sp>
      <p:sp>
        <p:nvSpPr>
          <p:cNvPr id="21" name="Text 19"/>
          <p:cNvSpPr txBox="1"/>
          <p:nvPr/>
        </p:nvSpPr>
        <p:spPr>
          <a:xfrm>
            <a:off x="822960" y="416052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20"/>
          <p:cNvSpPr txBox="1"/>
          <p:nvPr/>
        </p:nvSpPr>
        <p:spPr>
          <a:xfrm>
            <a:off x="822960" y="4754880"/>
            <a:ext cx="3017520" cy="6400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Plan de trabajo y avance</a:t>
            </a:r>
            <a:endParaRPr lang="en-US" sz="1700" dirty="0"/>
          </a:p>
        </p:txBody>
      </p:sp>
      <p:sp>
        <p:nvSpPr>
          <p:cNvPr id="23" name="Text 21"/>
          <p:cNvSpPr txBox="1"/>
          <p:nvPr/>
        </p:nvSpPr>
        <p:spPr>
          <a:xfrm>
            <a:off x="822960" y="5349240"/>
            <a:ext cx="3017520" cy="320040"/>
          </a:xfrm>
          <a:prstGeom prst="rect">
            <a:avLst/>
          </a:prstGeom>
          <a:noFill/>
          <a:ln/>
        </p:spPr>
        <p:txBody>
          <a:bodyPr wrap="square" lIns="0" tIns="0" rIns="0" bIns="0" rtlCol="0" anchor="ctr"/>
          <a:lstStyle/>
          <a:p>
            <a:pPr indent="0" marL="0">
              <a:buNone/>
            </a:pPr>
            <a:r>
              <a:rPr lang="en-US" sz="1300" dirty="0">
                <a:solidFill>
                  <a:schemeClr val="accent1"/>
                </a:solidFill>
              </a:rPr>
              <a:t>Expone: Joaquín</a:t>
            </a:r>
            <a:endParaRPr lang="en-US" sz="1300" dirty="0"/>
          </a:p>
        </p:txBody>
      </p:sp>
      <p:sp>
        <p:nvSpPr>
          <p:cNvPr id="24" name="tema-5"/>
          <p:cNvSpPr/>
          <p:nvPr/>
        </p:nvSpPr>
        <p:spPr>
          <a:xfrm>
            <a:off x="4297680" y="3886200"/>
            <a:ext cx="3474720" cy="1828800"/>
          </a:xfrm>
          <a:prstGeom prst="roundRect">
            <a:avLst>
              <a:gd name="adj" fmla="val 4000"/>
            </a:avLst>
          </a:prstGeom>
          <a:solidFill>
            <a:srgbClr val="E7E8D1"/>
          </a:solidFill>
          <a:ln w="12700">
            <a:solidFill>
              <a:srgbClr val="E7E8D1"/>
            </a:solidFill>
            <a:prstDash val="solid"/>
          </a:ln>
        </p:spPr>
      </p:sp>
      <p:sp>
        <p:nvSpPr>
          <p:cNvPr id="25" name="Shape 23"/>
          <p:cNvSpPr/>
          <p:nvPr/>
        </p:nvSpPr>
        <p:spPr>
          <a:xfrm>
            <a:off x="4572000" y="4160520"/>
            <a:ext cx="502920" cy="502920"/>
          </a:xfrm>
          <a:prstGeom prst="ellipse">
            <a:avLst/>
          </a:prstGeom>
          <a:solidFill>
            <a:schemeClr val="accent1"/>
          </a:solidFill>
          <a:ln w="12700">
            <a:solidFill>
              <a:schemeClr val="accent1"/>
            </a:solidFill>
            <a:prstDash val="solid"/>
          </a:ln>
        </p:spPr>
      </p:sp>
      <p:sp>
        <p:nvSpPr>
          <p:cNvPr id="26" name="Text 24"/>
          <p:cNvSpPr txBox="1"/>
          <p:nvPr/>
        </p:nvSpPr>
        <p:spPr>
          <a:xfrm>
            <a:off x="4572000" y="416052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7" name="Text 25"/>
          <p:cNvSpPr txBox="1"/>
          <p:nvPr/>
        </p:nvSpPr>
        <p:spPr>
          <a:xfrm>
            <a:off x="4572000" y="4754880"/>
            <a:ext cx="3017520" cy="6400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Competencias del perfil de egreso</a:t>
            </a:r>
            <a:endParaRPr lang="en-US" sz="1700" dirty="0"/>
          </a:p>
        </p:txBody>
      </p:sp>
      <p:sp>
        <p:nvSpPr>
          <p:cNvPr id="28" name="Text 26"/>
          <p:cNvSpPr txBox="1"/>
          <p:nvPr/>
        </p:nvSpPr>
        <p:spPr>
          <a:xfrm>
            <a:off x="4572000" y="5349240"/>
            <a:ext cx="3017520" cy="320040"/>
          </a:xfrm>
          <a:prstGeom prst="rect">
            <a:avLst/>
          </a:prstGeom>
          <a:noFill/>
          <a:ln/>
        </p:spPr>
        <p:txBody>
          <a:bodyPr wrap="square" lIns="0" tIns="0" rIns="0" bIns="0" rtlCol="0" anchor="ctr"/>
          <a:lstStyle/>
          <a:p>
            <a:pPr indent="0" marL="0">
              <a:buNone/>
            </a:pPr>
            <a:r>
              <a:rPr lang="en-US" sz="1300" dirty="0">
                <a:solidFill>
                  <a:schemeClr val="accent1"/>
                </a:solidFill>
              </a:rPr>
              <a:t>Expone: Gonzalo</a:t>
            </a:r>
            <a:endParaRPr lang="en-US" sz="1300" dirty="0"/>
          </a:p>
        </p:txBody>
      </p:sp>
      <p:sp>
        <p:nvSpPr>
          <p:cNvPr id="29" name="tema-6"/>
          <p:cNvSpPr/>
          <p:nvPr/>
        </p:nvSpPr>
        <p:spPr>
          <a:xfrm>
            <a:off x="8046720" y="3886200"/>
            <a:ext cx="3474720" cy="1828800"/>
          </a:xfrm>
          <a:prstGeom prst="roundRect">
            <a:avLst>
              <a:gd name="adj" fmla="val 4000"/>
            </a:avLst>
          </a:prstGeom>
          <a:solidFill>
            <a:srgbClr val="F2F3EA"/>
          </a:solidFill>
          <a:ln w="12700">
            <a:solidFill>
              <a:srgbClr val="F2F3EA"/>
            </a:solidFill>
            <a:prstDash val="solid"/>
          </a:ln>
        </p:spPr>
      </p:sp>
      <p:sp>
        <p:nvSpPr>
          <p:cNvPr id="30" name="Shape 28"/>
          <p:cNvSpPr/>
          <p:nvPr/>
        </p:nvSpPr>
        <p:spPr>
          <a:xfrm>
            <a:off x="8321040" y="4160520"/>
            <a:ext cx="502920" cy="502920"/>
          </a:xfrm>
          <a:prstGeom prst="ellipse">
            <a:avLst/>
          </a:prstGeom>
          <a:solidFill>
            <a:schemeClr val="accent1"/>
          </a:solidFill>
          <a:ln w="12700">
            <a:solidFill>
              <a:schemeClr val="accent1"/>
            </a:solidFill>
            <a:prstDash val="solid"/>
          </a:ln>
        </p:spPr>
      </p:sp>
      <p:sp>
        <p:nvSpPr>
          <p:cNvPr id="31" name="Text 29"/>
          <p:cNvSpPr txBox="1"/>
          <p:nvPr/>
        </p:nvSpPr>
        <p:spPr>
          <a:xfrm>
            <a:off x="8321040" y="416052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2" name="Text 30"/>
          <p:cNvSpPr txBox="1"/>
          <p:nvPr/>
        </p:nvSpPr>
        <p:spPr>
          <a:xfrm>
            <a:off x="8321040" y="4754880"/>
            <a:ext cx="3017520" cy="6400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Proyección profesional de cada integrante</a:t>
            </a:r>
            <a:endParaRPr lang="en-US" sz="1700" dirty="0"/>
          </a:p>
        </p:txBody>
      </p:sp>
      <p:sp>
        <p:nvSpPr>
          <p:cNvPr id="33" name="Text 31"/>
          <p:cNvSpPr txBox="1"/>
          <p:nvPr/>
        </p:nvSpPr>
        <p:spPr>
          <a:xfrm>
            <a:off x="8321040" y="5349240"/>
            <a:ext cx="3017520" cy="320040"/>
          </a:xfrm>
          <a:prstGeom prst="rect">
            <a:avLst/>
          </a:prstGeom>
          <a:noFill/>
          <a:ln/>
        </p:spPr>
        <p:txBody>
          <a:bodyPr wrap="square" lIns="0" tIns="0" rIns="0" bIns="0" rtlCol="0" anchor="ctr"/>
          <a:lstStyle/>
          <a:p>
            <a:pPr indent="0" marL="0">
              <a:buNone/>
            </a:pPr>
            <a:r>
              <a:rPr lang="en-US" sz="1300" dirty="0">
                <a:solidFill>
                  <a:schemeClr val="accent1"/>
                </a:solidFill>
              </a:rPr>
              <a:t>Expone: Ambos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40080"/>
          </a:xfrm>
          <a:prstGeom prst="rect">
            <a:avLst/>
          </a:prstGeom>
          <a:noFill/>
          <a:ln/>
        </p:spPr>
        <p:txBody>
          <a:bodyPr wrap="square" rtlCol="0" anchor="ctr"/>
          <a:lstStyle/>
          <a:p>
            <a:pPr algn="l" indent="0" marL="0">
              <a:buNone/>
            </a:pPr>
            <a:r>
              <a:rPr lang="en-US" sz="3200" b="1" dirty="0">
                <a:solidFill>
                  <a:schemeClr val="tx2"/>
                </a:solidFill>
              </a:rPr>
              <a:t>El problema</a:t>
            </a:r>
            <a:endParaRPr lang="en-US" sz="3200" dirty="0"/>
          </a:p>
        </p:txBody>
      </p:sp>
      <p:sp>
        <p:nvSpPr>
          <p:cNvPr id="3" name="Text 0"/>
          <p:cNvSpPr/>
          <p:nvPr>
            <p:ph idx="101" type="body" hasCustomPrompt="1"/>
          </p:nvPr>
        </p:nvSpPr>
        <p:spPr>
          <a:xfrm>
            <a:off x="548640" y="960120"/>
            <a:ext cx="11064240" cy="411480"/>
          </a:xfrm>
          <a:prstGeom prst="rect">
            <a:avLst/>
          </a:prstGeom>
          <a:noFill/>
          <a:ln/>
        </p:spPr>
        <p:txBody>
          <a:bodyPr wrap="square" rtlCol="0" anchor="t"/>
          <a:lstStyle/>
          <a:p>
            <a:pPr algn="l" indent="0" marL="0">
              <a:buNone/>
            </a:pPr>
            <a:r>
              <a:rPr lang="en-US" sz="1500" i="1" dirty="0">
                <a:solidFill>
                  <a:schemeClr val="accent4"/>
                </a:solidFill>
              </a:rPr>
              <a:t>Una empresa que vende y arrienda instrumental topográfico de alto valor</a:t>
            </a:r>
            <a:endParaRPr lang="en-US" sz="1500" dirty="0"/>
          </a:p>
        </p:txBody>
      </p:sp>
      <p:sp>
        <p:nvSpPr>
          <p:cNvPr id="4" name="pregunta"/>
          <p:cNvSpPr/>
          <p:nvPr/>
        </p:nvSpPr>
        <p:spPr>
          <a:xfrm>
            <a:off x="548640" y="1645920"/>
            <a:ext cx="5120640" cy="3657600"/>
          </a:xfrm>
          <a:prstGeom prst="roundRect">
            <a:avLst>
              <a:gd name="adj" fmla="val 2000"/>
            </a:avLst>
          </a:prstGeom>
          <a:solidFill>
            <a:srgbClr val="2E3A3F"/>
          </a:solidFill>
          <a:ln w="12700">
            <a:solidFill>
              <a:srgbClr val="2E3A3F"/>
            </a:solidFill>
            <a:prstDash val="solid"/>
          </a:ln>
        </p:spPr>
      </p:sp>
      <p:sp>
        <p:nvSpPr>
          <p:cNvPr id="5" name="Text 3"/>
          <p:cNvSpPr txBox="1"/>
          <p:nvPr/>
        </p:nvSpPr>
        <p:spPr>
          <a:xfrm>
            <a:off x="914400" y="1920240"/>
            <a:ext cx="4389120" cy="365760"/>
          </a:xfrm>
          <a:prstGeom prst="rect">
            <a:avLst/>
          </a:prstGeom>
          <a:noFill/>
          <a:ln/>
        </p:spPr>
        <p:txBody>
          <a:bodyPr wrap="square" lIns="0" tIns="0" rIns="0" bIns="0" rtlCol="0" anchor="ctr"/>
          <a:lstStyle/>
          <a:p>
            <a:pPr indent="0" marL="0">
              <a:buNone/>
            </a:pPr>
            <a:r>
              <a:rPr lang="en-US" sz="1300" b="1" dirty="0">
                <a:solidFill>
                  <a:schemeClr val="accent6"/>
                </a:solidFill>
              </a:rPr>
              <a:t>La pregunta que hoy no se puede responder</a:t>
            </a:r>
            <a:endParaRPr lang="en-US" sz="1300" dirty="0"/>
          </a:p>
        </p:txBody>
      </p:sp>
      <p:sp>
        <p:nvSpPr>
          <p:cNvPr id="6" name="Text 4"/>
          <p:cNvSpPr txBox="1"/>
          <p:nvPr/>
        </p:nvSpPr>
        <p:spPr>
          <a:xfrm>
            <a:off x="914400" y="2377440"/>
            <a:ext cx="4389120" cy="146304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“¿Tienen un GPS RTK disponible para el lunes?”</a:t>
            </a:r>
            <a:endParaRPr lang="en-US" sz="2800" dirty="0"/>
          </a:p>
        </p:txBody>
      </p:sp>
      <p:sp>
        <p:nvSpPr>
          <p:cNvPr id="7" name="Text 5"/>
          <p:cNvSpPr txBox="1"/>
          <p:nvPr/>
        </p:nvSpPr>
        <p:spPr>
          <a:xfrm>
            <a:off x="914400" y="3977640"/>
            <a:ext cx="4389120" cy="1097280"/>
          </a:xfrm>
          <a:prstGeom prst="rect">
            <a:avLst/>
          </a:prstGeom>
          <a:noFill/>
          <a:ln/>
        </p:spPr>
        <p:txBody>
          <a:bodyPr wrap="square" lIns="0" tIns="0" rIns="0" bIns="0" rtlCol="0" anchor="t"/>
          <a:lstStyle/>
          <a:p>
            <a:pPr indent="0" marL="0">
              <a:buNone/>
            </a:pPr>
            <a:r>
              <a:rPr lang="en-US" sz="1500" dirty="0">
                <a:solidFill>
                  <a:schemeClr val="accent5"/>
                </a:solidFill>
              </a:rPr>
              <a:t>Responderla exige revisar planillas, llamar a cada bodega y confirmar si el equipo volvió de su último arriendo.</a:t>
            </a:r>
            <a:endParaRPr lang="en-US" sz="1500" dirty="0"/>
          </a:p>
        </p:txBody>
      </p:sp>
      <p:sp>
        <p:nvSpPr>
          <p:cNvPr id="8" name="Shape 6"/>
          <p:cNvSpPr/>
          <p:nvPr/>
        </p:nvSpPr>
        <p:spPr>
          <a:xfrm>
            <a:off x="6126480" y="1691640"/>
            <a:ext cx="566928" cy="566928"/>
          </a:xfrm>
          <a:prstGeom prst="ellipse">
            <a:avLst/>
          </a:prstGeom>
          <a:solidFill>
            <a:srgbClr val="B85042"/>
          </a:solidFill>
          <a:ln w="12700">
            <a:solidFill>
              <a:srgbClr val="B85042"/>
            </a:solidFill>
            <a:prstDash val="solid"/>
          </a:ln>
        </p:spPr>
      </p:sp>
      <p:pic>
        <p:nvPicPr>
          <p:cNvPr id="9" name="Image 0" descr="preencoded.png">    </p:cNvPr>
          <p:cNvPicPr>
            <a:picLocks noChangeAspect="1"/>
          </p:cNvPicPr>
          <p:nvPr/>
        </p:nvPicPr>
        <p:blipFill>
          <a:blip r:embed="rId1"/>
          <a:stretch>
            <a:fillRect/>
          </a:stretch>
        </p:blipFill>
        <p:spPr>
          <a:xfrm>
            <a:off x="6262543" y="1827703"/>
            <a:ext cx="294803" cy="294803"/>
          </a:xfrm>
          <a:prstGeom prst="rect">
            <a:avLst/>
          </a:prstGeom>
        </p:spPr>
      </p:pic>
      <p:sp>
        <p:nvSpPr>
          <p:cNvPr id="10" name="Text 7"/>
          <p:cNvSpPr txBox="1"/>
          <p:nvPr/>
        </p:nvSpPr>
        <p:spPr>
          <a:xfrm>
            <a:off x="6903720" y="1673352"/>
            <a:ext cx="4663440" cy="365760"/>
          </a:xfrm>
          <a:prstGeom prst="rect">
            <a:avLst/>
          </a:prstGeom>
          <a:noFill/>
          <a:ln/>
        </p:spPr>
        <p:txBody>
          <a:bodyPr wrap="square" lIns="0" tIns="0" rIns="0" bIns="0" rtlCol="0" anchor="ctr"/>
          <a:lstStyle/>
          <a:p>
            <a:pPr indent="0" marL="0">
              <a:buNone/>
            </a:pPr>
            <a:r>
              <a:rPr lang="en-US" sz="1700" b="1" dirty="0">
                <a:solidFill>
                  <a:schemeClr val="tx2"/>
                </a:solidFill>
              </a:rPr>
              <a:t>El inventario vive en planillas</a:t>
            </a:r>
            <a:endParaRPr lang="en-US" sz="1700" dirty="0"/>
          </a:p>
        </p:txBody>
      </p:sp>
      <p:sp>
        <p:nvSpPr>
          <p:cNvPr id="11" name="Text 8"/>
          <p:cNvSpPr txBox="1"/>
          <p:nvPr/>
        </p:nvSpPr>
        <p:spPr>
          <a:xfrm>
            <a:off x="6903720" y="2057400"/>
            <a:ext cx="4663440" cy="548640"/>
          </a:xfrm>
          <a:prstGeom prst="rect">
            <a:avLst/>
          </a:prstGeom>
          <a:noFill/>
          <a:ln/>
        </p:spPr>
        <p:txBody>
          <a:bodyPr wrap="square" lIns="0" tIns="0" rIns="0" bIns="0" rtlCol="0" anchor="t"/>
          <a:lstStyle/>
          <a:p>
            <a:pPr indent="0" marL="0">
              <a:buNone/>
            </a:pPr>
            <a:r>
              <a:rPr lang="en-US" sz="1400" dirty="0">
                <a:solidFill>
                  <a:schemeClr val="accent4"/>
                </a:solidFill>
              </a:rPr>
              <a:t>Actualizadas a mano y repartidas entre bodegas.</a:t>
            </a:r>
            <a:endParaRPr lang="en-US" sz="1400" dirty="0"/>
          </a:p>
        </p:txBody>
      </p:sp>
      <p:sp>
        <p:nvSpPr>
          <p:cNvPr id="12" name="Shape 9"/>
          <p:cNvSpPr/>
          <p:nvPr/>
        </p:nvSpPr>
        <p:spPr>
          <a:xfrm>
            <a:off x="6126480" y="2898648"/>
            <a:ext cx="566928" cy="566928"/>
          </a:xfrm>
          <a:prstGeom prst="ellipse">
            <a:avLst/>
          </a:prstGeom>
          <a:solidFill>
            <a:srgbClr val="B85042"/>
          </a:solidFill>
          <a:ln w="12700">
            <a:solidFill>
              <a:srgbClr val="B85042"/>
            </a:solidFill>
            <a:prstDash val="solid"/>
          </a:ln>
        </p:spPr>
      </p:sp>
      <p:pic>
        <p:nvPicPr>
          <p:cNvPr id="13" name="Image 1" descr="preencoded.png">    </p:cNvPr>
          <p:cNvPicPr>
            <a:picLocks noChangeAspect="1"/>
          </p:cNvPicPr>
          <p:nvPr/>
        </p:nvPicPr>
        <p:blipFill>
          <a:blip r:embed="rId2"/>
          <a:stretch>
            <a:fillRect/>
          </a:stretch>
        </p:blipFill>
        <p:spPr>
          <a:xfrm>
            <a:off x="6262543" y="3034711"/>
            <a:ext cx="294803" cy="294803"/>
          </a:xfrm>
          <a:prstGeom prst="rect">
            <a:avLst/>
          </a:prstGeom>
        </p:spPr>
      </p:pic>
      <p:sp>
        <p:nvSpPr>
          <p:cNvPr id="14" name="Text 10"/>
          <p:cNvSpPr txBox="1"/>
          <p:nvPr/>
        </p:nvSpPr>
        <p:spPr>
          <a:xfrm>
            <a:off x="6903720" y="2880360"/>
            <a:ext cx="4663440" cy="365760"/>
          </a:xfrm>
          <a:prstGeom prst="rect">
            <a:avLst/>
          </a:prstGeom>
          <a:noFill/>
          <a:ln/>
        </p:spPr>
        <p:txBody>
          <a:bodyPr wrap="square" lIns="0" tIns="0" rIns="0" bIns="0" rtlCol="0" anchor="ctr"/>
          <a:lstStyle/>
          <a:p>
            <a:pPr indent="0" marL="0">
              <a:buNone/>
            </a:pPr>
            <a:r>
              <a:rPr lang="en-US" sz="1700" b="1" dirty="0">
                <a:solidFill>
                  <a:schemeClr val="tx2"/>
                </a:solidFill>
              </a:rPr>
              <a:t>Se cuentan cantidades, no equipos</a:t>
            </a:r>
            <a:endParaRPr lang="en-US" sz="1700" dirty="0"/>
          </a:p>
        </p:txBody>
      </p:sp>
      <p:sp>
        <p:nvSpPr>
          <p:cNvPr id="15" name="Text 11"/>
          <p:cNvSpPr txBox="1"/>
          <p:nvPr/>
        </p:nvSpPr>
        <p:spPr>
          <a:xfrm>
            <a:off x="6903720" y="3264408"/>
            <a:ext cx="4663440" cy="548640"/>
          </a:xfrm>
          <a:prstGeom prst="rect">
            <a:avLst/>
          </a:prstGeom>
          <a:noFill/>
          <a:ln/>
        </p:spPr>
        <p:txBody>
          <a:bodyPr wrap="square" lIns="0" tIns="0" rIns="0" bIns="0" rtlCol="0" anchor="t"/>
          <a:lstStyle/>
          <a:p>
            <a:pPr indent="0" marL="0">
              <a:buNone/>
            </a:pPr>
            <a:r>
              <a:rPr lang="en-US" sz="1400" dirty="0">
                <a:solidFill>
                  <a:schemeClr val="accent4"/>
                </a:solidFill>
              </a:rPr>
              <a:t>El registro dice “5 GPS”, no cuál está dónde ni en qué estado.</a:t>
            </a:r>
            <a:endParaRPr lang="en-US" sz="1400" dirty="0"/>
          </a:p>
        </p:txBody>
      </p:sp>
      <p:sp>
        <p:nvSpPr>
          <p:cNvPr id="16" name="Shape 12"/>
          <p:cNvSpPr/>
          <p:nvPr/>
        </p:nvSpPr>
        <p:spPr>
          <a:xfrm>
            <a:off x="6126480" y="4105656"/>
            <a:ext cx="566928" cy="566928"/>
          </a:xfrm>
          <a:prstGeom prst="ellipse">
            <a:avLst/>
          </a:prstGeom>
          <a:solidFill>
            <a:srgbClr val="B85042"/>
          </a:solidFill>
          <a:ln w="12700">
            <a:solidFill>
              <a:srgbClr val="B85042"/>
            </a:solidFill>
            <a:prstDash val="solid"/>
          </a:ln>
        </p:spPr>
      </p:sp>
      <p:pic>
        <p:nvPicPr>
          <p:cNvPr id="17" name="Image 2" descr="preencoded.png">    </p:cNvPr>
          <p:cNvPicPr>
            <a:picLocks noChangeAspect="1"/>
          </p:cNvPicPr>
          <p:nvPr/>
        </p:nvPicPr>
        <p:blipFill>
          <a:blip r:embed="rId3"/>
          <a:stretch>
            <a:fillRect/>
          </a:stretch>
        </p:blipFill>
        <p:spPr>
          <a:xfrm>
            <a:off x="6262543" y="4241719"/>
            <a:ext cx="294803" cy="294803"/>
          </a:xfrm>
          <a:prstGeom prst="rect">
            <a:avLst/>
          </a:prstGeom>
        </p:spPr>
      </p:pic>
      <p:sp>
        <p:nvSpPr>
          <p:cNvPr id="18" name="Text 13"/>
          <p:cNvSpPr txBox="1"/>
          <p:nvPr/>
        </p:nvSpPr>
        <p:spPr>
          <a:xfrm>
            <a:off x="6903720" y="4087368"/>
            <a:ext cx="4663440" cy="365760"/>
          </a:xfrm>
          <a:prstGeom prst="rect">
            <a:avLst/>
          </a:prstGeom>
          <a:noFill/>
          <a:ln/>
        </p:spPr>
        <p:txBody>
          <a:bodyPr wrap="square" lIns="0" tIns="0" rIns="0" bIns="0" rtlCol="0" anchor="ctr"/>
          <a:lstStyle/>
          <a:p>
            <a:pPr indent="0" marL="0">
              <a:buNone/>
            </a:pPr>
            <a:r>
              <a:rPr lang="en-US" sz="1700" b="1" dirty="0">
                <a:solidFill>
                  <a:schemeClr val="tx2"/>
                </a:solidFill>
              </a:rPr>
              <a:t>Arriendos vencidos que nadie detecta</a:t>
            </a:r>
            <a:endParaRPr lang="en-US" sz="1700" dirty="0"/>
          </a:p>
        </p:txBody>
      </p:sp>
      <p:sp>
        <p:nvSpPr>
          <p:cNvPr id="19" name="Text 14"/>
          <p:cNvSpPr txBox="1"/>
          <p:nvPr/>
        </p:nvSpPr>
        <p:spPr>
          <a:xfrm>
            <a:off x="6903720" y="4471416"/>
            <a:ext cx="4663440" cy="548640"/>
          </a:xfrm>
          <a:prstGeom prst="rect">
            <a:avLst/>
          </a:prstGeom>
          <a:noFill/>
          <a:ln/>
        </p:spPr>
        <p:txBody>
          <a:bodyPr wrap="square" lIns="0" tIns="0" rIns="0" bIns="0" rtlCol="0" anchor="t"/>
          <a:lstStyle/>
          <a:p>
            <a:pPr indent="0" marL="0">
              <a:buNone/>
            </a:pPr>
            <a:r>
              <a:rPr lang="en-US" sz="1400" dirty="0">
                <a:solidFill>
                  <a:schemeClr val="accent4"/>
                </a:solidFill>
              </a:rPr>
              <a:t>Equipos de alto valor inmovilizados en un cliente.</a:t>
            </a:r>
            <a:endParaRPr lang="en-US" sz="1400" dirty="0"/>
          </a:p>
        </p:txBody>
      </p:sp>
      <p:sp>
        <p:nvSpPr>
          <p:cNvPr id="20" name="Text 15"/>
          <p:cNvSpPr txBox="1"/>
          <p:nvPr/>
        </p:nvSpPr>
        <p:spPr>
          <a:xfrm>
            <a:off x="548640" y="5623560"/>
            <a:ext cx="11064240" cy="457200"/>
          </a:xfrm>
          <a:prstGeom prst="rect">
            <a:avLst/>
          </a:prstGeom>
          <a:noFill/>
          <a:ln/>
        </p:spPr>
        <p:txBody>
          <a:bodyPr wrap="square" lIns="0" tIns="0" rIns="0" bIns="0" rtlCol="0" anchor="ctr"/>
          <a:lstStyle/>
          <a:p>
            <a:pPr indent="0" marL="0">
              <a:buNone/>
            </a:pPr>
            <a:r>
              <a:rPr lang="en-US" sz="1600" b="1" i="1" dirty="0">
                <a:solidFill>
                  <a:schemeClr val="accent1"/>
                </a:solidFill>
              </a:rPr>
              <a:t>Diagnóstico: </a:t>
            </a:r>
            <a:pPr indent="0" marL="0">
              <a:buNone/>
            </a:pPr>
            <a:r>
              <a:rPr lang="en-US" sz="1600" i="1" dirty="0">
                <a:solidFill>
                  <a:schemeClr val="tx1"/>
                </a:solidFill>
              </a:rPr>
              <a:t>una planilla describe un estado fijo; los equipos cambian de estado y de ubicación todos los días.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40080"/>
          </a:xfrm>
          <a:prstGeom prst="rect">
            <a:avLst/>
          </a:prstGeom>
          <a:noFill/>
          <a:ln/>
        </p:spPr>
        <p:txBody>
          <a:bodyPr wrap="square" rtlCol="0" anchor="ctr"/>
          <a:lstStyle/>
          <a:p>
            <a:pPr algn="l" indent="0" marL="0">
              <a:buNone/>
            </a:pPr>
            <a:r>
              <a:rPr lang="en-US" sz="3200" b="1" dirty="0">
                <a:solidFill>
                  <a:schemeClr val="tx2"/>
                </a:solidFill>
              </a:rPr>
              <a:t>El producto</a:t>
            </a:r>
            <a:endParaRPr lang="en-US" sz="3200" dirty="0"/>
          </a:p>
        </p:txBody>
      </p:sp>
      <p:sp>
        <p:nvSpPr>
          <p:cNvPr id="3" name="Text 0"/>
          <p:cNvSpPr/>
          <p:nvPr>
            <p:ph idx="101" type="body" hasCustomPrompt="1"/>
          </p:nvPr>
        </p:nvSpPr>
        <p:spPr>
          <a:xfrm>
            <a:off x="548640" y="960120"/>
            <a:ext cx="11064240" cy="411480"/>
          </a:xfrm>
          <a:prstGeom prst="rect">
            <a:avLst/>
          </a:prstGeom>
          <a:noFill/>
          <a:ln/>
        </p:spPr>
        <p:txBody>
          <a:bodyPr wrap="square" rtlCol="0" anchor="t"/>
          <a:lstStyle/>
          <a:p>
            <a:pPr algn="l" indent="0" marL="0">
              <a:buNone/>
            </a:pPr>
            <a:r>
              <a:rPr lang="en-US" sz="1500" i="1" dirty="0">
                <a:solidFill>
                  <a:schemeClr val="accent4"/>
                </a:solidFill>
              </a:rPr>
              <a:t>Mira: cada equipo deja de ser una cantidad y pasa a ser un activo con identidad</a:t>
            </a:r>
            <a:endParaRPr lang="en-US" sz="1500" dirty="0"/>
          </a:p>
        </p:txBody>
      </p:sp>
      <p:sp>
        <p:nvSpPr>
          <p:cNvPr id="4" name="pilar-1"/>
          <p:cNvSpPr/>
          <p:nvPr/>
        </p:nvSpPr>
        <p:spPr>
          <a:xfrm>
            <a:off x="548640" y="1645920"/>
            <a:ext cx="4480560" cy="1143000"/>
          </a:xfrm>
          <a:prstGeom prst="roundRect">
            <a:avLst>
              <a:gd name="adj" fmla="val 6400"/>
            </a:avLst>
          </a:prstGeom>
          <a:solidFill>
            <a:srgbClr val="E7E8D1"/>
          </a:solidFill>
          <a:ln w="12700">
            <a:solidFill>
              <a:srgbClr val="E7E8D1"/>
            </a:solidFill>
            <a:prstDash val="solid"/>
          </a:ln>
        </p:spPr>
      </p:sp>
      <p:sp>
        <p:nvSpPr>
          <p:cNvPr id="5" name="Shape 3"/>
          <p:cNvSpPr/>
          <p:nvPr/>
        </p:nvSpPr>
        <p:spPr>
          <a:xfrm>
            <a:off x="777240" y="1920240"/>
            <a:ext cx="566928" cy="566928"/>
          </a:xfrm>
          <a:prstGeom prst="ellipse">
            <a:avLst/>
          </a:prstGeom>
          <a:solidFill>
            <a:srgbClr val="B85042"/>
          </a:solidFill>
          <a:ln w="12700">
            <a:solidFill>
              <a:srgbClr val="B85042"/>
            </a:solidFill>
            <a:prstDash val="solid"/>
          </a:ln>
        </p:spPr>
      </p:sp>
      <p:pic>
        <p:nvPicPr>
          <p:cNvPr id="6" name="Image 0" descr="preencoded.png">    </p:cNvPr>
          <p:cNvPicPr>
            <a:picLocks noChangeAspect="1"/>
          </p:cNvPicPr>
          <p:nvPr/>
        </p:nvPicPr>
        <p:blipFill>
          <a:blip r:embed="rId1"/>
          <a:stretch>
            <a:fillRect/>
          </a:stretch>
        </p:blipFill>
        <p:spPr>
          <a:xfrm>
            <a:off x="913303" y="2056303"/>
            <a:ext cx="294803" cy="294803"/>
          </a:xfrm>
          <a:prstGeom prst="rect">
            <a:avLst/>
          </a:prstGeom>
        </p:spPr>
      </p:pic>
      <p:sp>
        <p:nvSpPr>
          <p:cNvPr id="7" name="Text 4"/>
          <p:cNvSpPr txBox="1"/>
          <p:nvPr/>
        </p:nvSpPr>
        <p:spPr>
          <a:xfrm>
            <a:off x="1554480" y="1801368"/>
            <a:ext cx="3291840" cy="365760"/>
          </a:xfrm>
          <a:prstGeom prst="rect">
            <a:avLst/>
          </a:prstGeom>
          <a:noFill/>
          <a:ln/>
        </p:spPr>
        <p:txBody>
          <a:bodyPr wrap="square" lIns="0" tIns="0" rIns="0" bIns="0" rtlCol="0" anchor="ctr"/>
          <a:lstStyle/>
          <a:p>
            <a:pPr indent="0" marL="0">
              <a:buNone/>
            </a:pPr>
            <a:r>
              <a:rPr lang="en-US" sz="1700" b="1" dirty="0">
                <a:solidFill>
                  <a:schemeClr val="tx2"/>
                </a:solidFill>
              </a:rPr>
              <a:t>Identidad</a:t>
            </a:r>
            <a:endParaRPr lang="en-US" sz="1700" dirty="0"/>
          </a:p>
        </p:txBody>
      </p:sp>
      <p:sp>
        <p:nvSpPr>
          <p:cNvPr id="8" name="Text 5"/>
          <p:cNvSpPr txBox="1"/>
          <p:nvPr/>
        </p:nvSpPr>
        <p:spPr>
          <a:xfrm>
            <a:off x="1554480" y="2148840"/>
            <a:ext cx="3337560" cy="594360"/>
          </a:xfrm>
          <a:prstGeom prst="rect">
            <a:avLst/>
          </a:prstGeom>
          <a:noFill/>
          <a:ln/>
        </p:spPr>
        <p:txBody>
          <a:bodyPr wrap="square" lIns="0" tIns="0" rIns="0" bIns="0" rtlCol="0" anchor="t"/>
          <a:lstStyle/>
          <a:p>
            <a:pPr indent="0" marL="0">
              <a:buNone/>
            </a:pPr>
            <a:r>
              <a:rPr lang="en-US" sz="1300" dirty="0">
                <a:solidFill>
                  <a:schemeClr val="tx1"/>
                </a:solidFill>
              </a:rPr>
              <a:t>Cada equipo es una unidad única, identificada por su número de serie.</a:t>
            </a:r>
            <a:endParaRPr lang="en-US" sz="1300" dirty="0"/>
          </a:p>
        </p:txBody>
      </p:sp>
      <p:sp>
        <p:nvSpPr>
          <p:cNvPr id="9" name="pilar-2"/>
          <p:cNvSpPr/>
          <p:nvPr/>
        </p:nvSpPr>
        <p:spPr>
          <a:xfrm>
            <a:off x="548640" y="2971800"/>
            <a:ext cx="4480560" cy="1143000"/>
          </a:xfrm>
          <a:prstGeom prst="roundRect">
            <a:avLst>
              <a:gd name="adj" fmla="val 6400"/>
            </a:avLst>
          </a:prstGeom>
          <a:solidFill>
            <a:srgbClr val="F2F3EA"/>
          </a:solidFill>
          <a:ln w="12700">
            <a:solidFill>
              <a:srgbClr val="F2F3EA"/>
            </a:solidFill>
            <a:prstDash val="solid"/>
          </a:ln>
        </p:spPr>
      </p:sp>
      <p:sp>
        <p:nvSpPr>
          <p:cNvPr id="10" name="Shape 7"/>
          <p:cNvSpPr/>
          <p:nvPr/>
        </p:nvSpPr>
        <p:spPr>
          <a:xfrm>
            <a:off x="777240" y="3246120"/>
            <a:ext cx="566928" cy="566928"/>
          </a:xfrm>
          <a:prstGeom prst="ellipse">
            <a:avLst/>
          </a:prstGeom>
          <a:solidFill>
            <a:srgbClr val="B85042"/>
          </a:solidFill>
          <a:ln w="12700">
            <a:solidFill>
              <a:srgbClr val="B85042"/>
            </a:solidFill>
            <a:prstDash val="solid"/>
          </a:ln>
        </p:spPr>
      </p:sp>
      <p:pic>
        <p:nvPicPr>
          <p:cNvPr id="11" name="Image 1" descr="preencoded.png">    </p:cNvPr>
          <p:cNvPicPr>
            <a:picLocks noChangeAspect="1"/>
          </p:cNvPicPr>
          <p:nvPr/>
        </p:nvPicPr>
        <p:blipFill>
          <a:blip r:embed="rId2"/>
          <a:stretch>
            <a:fillRect/>
          </a:stretch>
        </p:blipFill>
        <p:spPr>
          <a:xfrm>
            <a:off x="913303" y="3382183"/>
            <a:ext cx="294803" cy="294803"/>
          </a:xfrm>
          <a:prstGeom prst="rect">
            <a:avLst/>
          </a:prstGeom>
        </p:spPr>
      </p:pic>
      <p:sp>
        <p:nvSpPr>
          <p:cNvPr id="12" name="Text 8"/>
          <p:cNvSpPr txBox="1"/>
          <p:nvPr/>
        </p:nvSpPr>
        <p:spPr>
          <a:xfrm>
            <a:off x="1554480" y="3127248"/>
            <a:ext cx="3291840" cy="365760"/>
          </a:xfrm>
          <a:prstGeom prst="rect">
            <a:avLst/>
          </a:prstGeom>
          <a:noFill/>
          <a:ln/>
        </p:spPr>
        <p:txBody>
          <a:bodyPr wrap="square" lIns="0" tIns="0" rIns="0" bIns="0" rtlCol="0" anchor="ctr"/>
          <a:lstStyle/>
          <a:p>
            <a:pPr indent="0" marL="0">
              <a:buNone/>
            </a:pPr>
            <a:r>
              <a:rPr lang="en-US" sz="1700" b="1" dirty="0">
                <a:solidFill>
                  <a:schemeClr val="tx2"/>
                </a:solidFill>
              </a:rPr>
              <a:t>Estado</a:t>
            </a:r>
            <a:endParaRPr lang="en-US" sz="1700" dirty="0"/>
          </a:p>
        </p:txBody>
      </p:sp>
      <p:sp>
        <p:nvSpPr>
          <p:cNvPr id="13" name="Text 9"/>
          <p:cNvSpPr txBox="1"/>
          <p:nvPr/>
        </p:nvSpPr>
        <p:spPr>
          <a:xfrm>
            <a:off x="1554480" y="3474720"/>
            <a:ext cx="3337560" cy="594360"/>
          </a:xfrm>
          <a:prstGeom prst="rect">
            <a:avLst/>
          </a:prstGeom>
          <a:noFill/>
          <a:ln/>
        </p:spPr>
        <p:txBody>
          <a:bodyPr wrap="square" lIns="0" tIns="0" rIns="0" bIns="0" rtlCol="0" anchor="t"/>
          <a:lstStyle/>
          <a:p>
            <a:pPr indent="0" marL="0">
              <a:buNone/>
            </a:pPr>
            <a:r>
              <a:rPr lang="en-US" sz="1300" dirty="0">
                <a:solidFill>
                  <a:schemeClr val="tx1"/>
                </a:solidFill>
              </a:rPr>
              <a:t>Disponible, arrendado, en tránsito, en mantención o vendido: siempre uno solo.</a:t>
            </a:r>
            <a:endParaRPr lang="en-US" sz="1300" dirty="0"/>
          </a:p>
        </p:txBody>
      </p:sp>
      <p:sp>
        <p:nvSpPr>
          <p:cNvPr id="14" name="pilar-3"/>
          <p:cNvSpPr/>
          <p:nvPr/>
        </p:nvSpPr>
        <p:spPr>
          <a:xfrm>
            <a:off x="548640" y="4297680"/>
            <a:ext cx="4480560" cy="1143000"/>
          </a:xfrm>
          <a:prstGeom prst="roundRect">
            <a:avLst>
              <a:gd name="adj" fmla="val 6400"/>
            </a:avLst>
          </a:prstGeom>
          <a:solidFill>
            <a:srgbClr val="E7E8D1"/>
          </a:solidFill>
          <a:ln w="12700">
            <a:solidFill>
              <a:srgbClr val="E7E8D1"/>
            </a:solidFill>
            <a:prstDash val="solid"/>
          </a:ln>
        </p:spPr>
      </p:sp>
      <p:sp>
        <p:nvSpPr>
          <p:cNvPr id="15" name="Shape 11"/>
          <p:cNvSpPr/>
          <p:nvPr/>
        </p:nvSpPr>
        <p:spPr>
          <a:xfrm>
            <a:off x="777240" y="4572000"/>
            <a:ext cx="566928" cy="566928"/>
          </a:xfrm>
          <a:prstGeom prst="ellipse">
            <a:avLst/>
          </a:prstGeom>
          <a:solidFill>
            <a:srgbClr val="B85042"/>
          </a:solidFill>
          <a:ln w="12700">
            <a:solidFill>
              <a:srgbClr val="B85042"/>
            </a:solidFill>
            <a:prstDash val="solid"/>
          </a:ln>
        </p:spPr>
      </p:sp>
      <p:pic>
        <p:nvPicPr>
          <p:cNvPr id="16" name="Image 2" descr="preencoded.png">    </p:cNvPr>
          <p:cNvPicPr>
            <a:picLocks noChangeAspect="1"/>
          </p:cNvPicPr>
          <p:nvPr/>
        </p:nvPicPr>
        <p:blipFill>
          <a:blip r:embed="rId3"/>
          <a:stretch>
            <a:fillRect/>
          </a:stretch>
        </p:blipFill>
        <p:spPr>
          <a:xfrm>
            <a:off x="913303" y="4708063"/>
            <a:ext cx="294803" cy="294803"/>
          </a:xfrm>
          <a:prstGeom prst="rect">
            <a:avLst/>
          </a:prstGeom>
        </p:spPr>
      </p:pic>
      <p:sp>
        <p:nvSpPr>
          <p:cNvPr id="17" name="Text 12"/>
          <p:cNvSpPr txBox="1"/>
          <p:nvPr/>
        </p:nvSpPr>
        <p:spPr>
          <a:xfrm>
            <a:off x="1554480" y="4453128"/>
            <a:ext cx="3291840" cy="365760"/>
          </a:xfrm>
          <a:prstGeom prst="rect">
            <a:avLst/>
          </a:prstGeom>
          <a:noFill/>
          <a:ln/>
        </p:spPr>
        <p:txBody>
          <a:bodyPr wrap="square" lIns="0" tIns="0" rIns="0" bIns="0" rtlCol="0" anchor="ctr"/>
          <a:lstStyle/>
          <a:p>
            <a:pPr indent="0" marL="0">
              <a:buNone/>
            </a:pPr>
            <a:r>
              <a:rPr lang="en-US" sz="1700" b="1" dirty="0">
                <a:solidFill>
                  <a:schemeClr val="tx2"/>
                </a:solidFill>
              </a:rPr>
              <a:t>Historial</a:t>
            </a:r>
            <a:endParaRPr lang="en-US" sz="1700" dirty="0"/>
          </a:p>
        </p:txBody>
      </p:sp>
      <p:sp>
        <p:nvSpPr>
          <p:cNvPr id="18" name="Text 13"/>
          <p:cNvSpPr txBox="1"/>
          <p:nvPr/>
        </p:nvSpPr>
        <p:spPr>
          <a:xfrm>
            <a:off x="1554480" y="4800600"/>
            <a:ext cx="3337560" cy="594360"/>
          </a:xfrm>
          <a:prstGeom prst="rect">
            <a:avLst/>
          </a:prstGeom>
          <a:noFill/>
          <a:ln/>
        </p:spPr>
        <p:txBody>
          <a:bodyPr wrap="square" lIns="0" tIns="0" rIns="0" bIns="0" rtlCol="0" anchor="t"/>
          <a:lstStyle/>
          <a:p>
            <a:pPr indent="0" marL="0">
              <a:buNone/>
            </a:pPr>
            <a:r>
              <a:rPr lang="en-US" sz="1300" dirty="0">
                <a:solidFill>
                  <a:schemeClr val="tx1"/>
                </a:solidFill>
              </a:rPr>
              <a:t>Cada movimiento queda registrado con fecha, bodega y responsable.</a:t>
            </a:r>
            <a:endParaRPr lang="en-US" sz="1300" dirty="0"/>
          </a:p>
        </p:txBody>
      </p:sp>
      <p:sp>
        <p:nvSpPr>
          <p:cNvPr id="19" name="Text 14"/>
          <p:cNvSpPr txBox="1"/>
          <p:nvPr/>
        </p:nvSpPr>
        <p:spPr>
          <a:xfrm>
            <a:off x="548640" y="5669280"/>
            <a:ext cx="4480560" cy="548640"/>
          </a:xfrm>
          <a:prstGeom prst="rect">
            <a:avLst/>
          </a:prstGeom>
          <a:noFill/>
          <a:ln/>
        </p:spPr>
        <p:txBody>
          <a:bodyPr wrap="square" lIns="0" tIns="0" rIns="0" bIns="0" rtlCol="0" anchor="ctr"/>
          <a:lstStyle/>
          <a:p>
            <a:pPr indent="0" marL="0">
              <a:buNone/>
            </a:pPr>
            <a:r>
              <a:rPr lang="en-US" sz="1200" i="1" dirty="0">
                <a:solidFill>
                  <a:schemeClr val="accent4"/>
                </a:solidFill>
              </a:rPr>
              <a:t>Sin integración con el SII ni emisión de documentos tributarios: el sistema los adjunta y relaciona, no los emite.</a:t>
            </a:r>
            <a:endParaRPr lang="en-US" sz="1200" dirty="0"/>
          </a:p>
        </p:txBody>
      </p:sp>
      <p:sp>
        <p:nvSpPr>
          <p:cNvPr id="20" name="marco-captura"/>
          <p:cNvSpPr/>
          <p:nvPr/>
        </p:nvSpPr>
        <p:spPr>
          <a:xfrm>
            <a:off x="5440680" y="1600200"/>
            <a:ext cx="6217920" cy="4224528"/>
          </a:xfrm>
          <a:prstGeom prst="roundRect">
            <a:avLst>
              <a:gd name="adj" fmla="val 1299"/>
            </a:avLst>
          </a:prstGeom>
          <a:solidFill>
            <a:srgbClr val="FFFFFF"/>
          </a:solidFill>
          <a:ln w="12700">
            <a:solidFill>
              <a:srgbClr val="D9DCC8"/>
            </a:solidFill>
            <a:prstDash val="solid"/>
          </a:ln>
          <a:effectLst>
            <a:outerShdw sx="100000" sy="100000" kx="0" ky="0" algn="bl" rotWithShape="0" blurRad="76200" dist="25400" dir="5400000">
              <a:srgbClr val="000000">
                <a:alpha val="18000"/>
              </a:srgbClr>
            </a:outerShdw>
          </a:effectLst>
        </p:spPr>
      </p:sp>
      <p:pic>
        <p:nvPicPr>
          <p:cNvPr id="21" name="Image 3" descr="/home/user/Mira/docs/evidencias/semana-08/10-equipos.png">    </p:cNvPr>
          <p:cNvPicPr>
            <a:picLocks noChangeAspect="1"/>
          </p:cNvPicPr>
          <p:nvPr/>
        </p:nvPicPr>
        <p:blipFill>
          <a:blip r:embed="rId4"/>
          <a:srcRect l="0" r="0" t="0" b="0"/>
          <a:stretch/>
        </p:blipFill>
        <p:spPr>
          <a:xfrm>
            <a:off x="5532120" y="1691640"/>
            <a:ext cx="6035040" cy="3904488"/>
          </a:xfrm>
          <a:prstGeom prst="rect">
            <a:avLst/>
          </a:prstGeom>
        </p:spPr>
      </p:pic>
      <p:sp>
        <p:nvSpPr>
          <p:cNvPr id="22" name="Text 16"/>
          <p:cNvSpPr txBox="1"/>
          <p:nvPr/>
        </p:nvSpPr>
        <p:spPr>
          <a:xfrm>
            <a:off x="5440680" y="5897880"/>
            <a:ext cx="6217920" cy="320040"/>
          </a:xfrm>
          <a:prstGeom prst="rect">
            <a:avLst/>
          </a:prstGeom>
          <a:noFill/>
          <a:ln/>
        </p:spPr>
        <p:txBody>
          <a:bodyPr wrap="square" lIns="0" tIns="0" rIns="0" bIns="0" rtlCol="0" anchor="ctr"/>
          <a:lstStyle/>
          <a:p>
            <a:pPr algn="ctr" indent="0" marL="0">
              <a:buNone/>
            </a:pPr>
            <a:r>
              <a:rPr lang="en-US" sz="1200" i="1" dirty="0">
                <a:solidFill>
                  <a:schemeClr val="accent4"/>
                </a:solidFill>
              </a:rPr>
              <a:t>Sistema funcionando: listado de equipos con filtros (Sprint 2)</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40080"/>
          </a:xfrm>
          <a:prstGeom prst="rect">
            <a:avLst/>
          </a:prstGeom>
          <a:noFill/>
          <a:ln/>
        </p:spPr>
        <p:txBody>
          <a:bodyPr wrap="square" rtlCol="0" anchor="ctr"/>
          <a:lstStyle/>
          <a:p>
            <a:pPr algn="l" indent="0" marL="0">
              <a:buNone/>
            </a:pPr>
            <a:r>
              <a:rPr lang="en-US" sz="3200" b="1" dirty="0">
                <a:solidFill>
                  <a:schemeClr val="tx2"/>
                </a:solidFill>
              </a:rPr>
              <a:t>Metodología de trabajo</a:t>
            </a:r>
            <a:endParaRPr lang="en-US" sz="3200" dirty="0"/>
          </a:p>
        </p:txBody>
      </p:sp>
      <p:sp>
        <p:nvSpPr>
          <p:cNvPr id="3" name="Text 0"/>
          <p:cNvSpPr/>
          <p:nvPr>
            <p:ph idx="101" type="body" hasCustomPrompt="1"/>
          </p:nvPr>
        </p:nvSpPr>
        <p:spPr>
          <a:xfrm>
            <a:off x="548640" y="960120"/>
            <a:ext cx="11064240" cy="411480"/>
          </a:xfrm>
          <a:prstGeom prst="rect">
            <a:avLst/>
          </a:prstGeom>
          <a:noFill/>
          <a:ln/>
        </p:spPr>
        <p:txBody>
          <a:bodyPr wrap="square" rtlCol="0" anchor="t"/>
          <a:lstStyle/>
          <a:p>
            <a:pPr algn="l" indent="0" marL="0">
              <a:buNone/>
            </a:pPr>
            <a:r>
              <a:rPr lang="en-US" sz="1500" i="1" dirty="0">
                <a:solidFill>
                  <a:schemeClr val="accent4"/>
                </a:solidFill>
              </a:rPr>
              <a:t>Marco ágil basado en Scrum, adaptado al calendario de la asignatura</a:t>
            </a:r>
            <a:endParaRPr lang="en-US" sz="1500" dirty="0"/>
          </a:p>
        </p:txBody>
      </p:sp>
      <p:sp>
        <p:nvSpPr>
          <p:cNvPr id="4" name="paso-1"/>
          <p:cNvSpPr/>
          <p:nvPr/>
        </p:nvSpPr>
        <p:spPr>
          <a:xfrm>
            <a:off x="548640" y="1691640"/>
            <a:ext cx="2560320" cy="2240280"/>
          </a:xfrm>
          <a:prstGeom prst="roundRect">
            <a:avLst>
              <a:gd name="adj" fmla="val 3265"/>
            </a:avLst>
          </a:prstGeom>
          <a:solidFill>
            <a:srgbClr val="E7E8D1"/>
          </a:solidFill>
          <a:ln w="12700">
            <a:solidFill>
              <a:srgbClr val="E7E8D1"/>
            </a:solidFill>
            <a:prstDash val="solid"/>
          </a:ln>
        </p:spPr>
      </p:sp>
      <p:sp>
        <p:nvSpPr>
          <p:cNvPr id="5" name="Shape 3"/>
          <p:cNvSpPr/>
          <p:nvPr/>
        </p:nvSpPr>
        <p:spPr>
          <a:xfrm>
            <a:off x="777240" y="1920240"/>
            <a:ext cx="566928" cy="566928"/>
          </a:xfrm>
          <a:prstGeom prst="ellipse">
            <a:avLst/>
          </a:prstGeom>
          <a:solidFill>
            <a:srgbClr val="B85042"/>
          </a:solidFill>
          <a:ln w="12700">
            <a:solidFill>
              <a:srgbClr val="B85042"/>
            </a:solidFill>
            <a:prstDash val="solid"/>
          </a:ln>
        </p:spPr>
      </p:sp>
      <p:pic>
        <p:nvPicPr>
          <p:cNvPr id="6" name="Image 0" descr="preencoded.png">    </p:cNvPr>
          <p:cNvPicPr>
            <a:picLocks noChangeAspect="1"/>
          </p:cNvPicPr>
          <p:nvPr/>
        </p:nvPicPr>
        <p:blipFill>
          <a:blip r:embed="rId1"/>
          <a:stretch>
            <a:fillRect/>
          </a:stretch>
        </p:blipFill>
        <p:spPr>
          <a:xfrm>
            <a:off x="913303" y="2056303"/>
            <a:ext cx="294803" cy="294803"/>
          </a:xfrm>
          <a:prstGeom prst="rect">
            <a:avLst/>
          </a:prstGeom>
        </p:spPr>
      </p:pic>
      <p:sp>
        <p:nvSpPr>
          <p:cNvPr id="7" name="Text 4"/>
          <p:cNvSpPr txBox="1"/>
          <p:nvPr/>
        </p:nvSpPr>
        <p:spPr>
          <a:xfrm>
            <a:off x="777240" y="2651760"/>
            <a:ext cx="2148840" cy="411480"/>
          </a:xfrm>
          <a:prstGeom prst="rect">
            <a:avLst/>
          </a:prstGeom>
          <a:noFill/>
          <a:ln/>
        </p:spPr>
        <p:txBody>
          <a:bodyPr wrap="square" lIns="0" tIns="0" rIns="0" bIns="0" rtlCol="0" anchor="ctr"/>
          <a:lstStyle/>
          <a:p>
            <a:pPr indent="0" marL="0">
              <a:buNone/>
            </a:pPr>
            <a:r>
              <a:rPr lang="en-US" sz="1600" b="1" dirty="0">
                <a:solidFill>
                  <a:schemeClr val="tx2"/>
                </a:solidFill>
              </a:rPr>
              <a:t>Sprint de dos semanas</a:t>
            </a:r>
            <a:endParaRPr lang="en-US" sz="1600" dirty="0"/>
          </a:p>
        </p:txBody>
      </p:sp>
      <p:sp>
        <p:nvSpPr>
          <p:cNvPr id="8" name="Text 5"/>
          <p:cNvSpPr txBox="1"/>
          <p:nvPr/>
        </p:nvSpPr>
        <p:spPr>
          <a:xfrm>
            <a:off x="777240" y="3063240"/>
            <a:ext cx="2148840" cy="777240"/>
          </a:xfrm>
          <a:prstGeom prst="rect">
            <a:avLst/>
          </a:prstGeom>
          <a:noFill/>
          <a:ln/>
        </p:spPr>
        <p:txBody>
          <a:bodyPr wrap="square" lIns="0" tIns="0" rIns="0" bIns="0" rtlCol="0" anchor="t"/>
          <a:lstStyle/>
          <a:p>
            <a:pPr indent="0" marL="0">
              <a:buNone/>
            </a:pPr>
            <a:r>
              <a:rPr lang="en-US" sz="1300" dirty="0">
                <a:solidFill>
                  <a:schemeClr val="tx1"/>
                </a:solidFill>
              </a:rPr>
              <a:t>Objetivo en una frase y demostración al cierre.</a:t>
            </a:r>
            <a:endParaRPr lang="en-US" sz="1300" dirty="0"/>
          </a:p>
        </p:txBody>
      </p:sp>
      <p:sp>
        <p:nvSpPr>
          <p:cNvPr id="9" name="Text 6"/>
          <p:cNvSpPr txBox="1"/>
          <p:nvPr/>
        </p:nvSpPr>
        <p:spPr>
          <a:xfrm>
            <a:off x="3108960" y="2514600"/>
            <a:ext cx="274320" cy="45720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10" name="paso-2"/>
          <p:cNvSpPr/>
          <p:nvPr/>
        </p:nvSpPr>
        <p:spPr>
          <a:xfrm>
            <a:off x="3383280" y="1691640"/>
            <a:ext cx="2560320" cy="2240280"/>
          </a:xfrm>
          <a:prstGeom prst="roundRect">
            <a:avLst>
              <a:gd name="adj" fmla="val 3265"/>
            </a:avLst>
          </a:prstGeom>
          <a:solidFill>
            <a:srgbClr val="F2F3EA"/>
          </a:solidFill>
          <a:ln w="12700">
            <a:solidFill>
              <a:srgbClr val="F2F3EA"/>
            </a:solidFill>
            <a:prstDash val="solid"/>
          </a:ln>
        </p:spPr>
      </p:sp>
      <p:sp>
        <p:nvSpPr>
          <p:cNvPr id="11" name="Shape 8"/>
          <p:cNvSpPr/>
          <p:nvPr/>
        </p:nvSpPr>
        <p:spPr>
          <a:xfrm>
            <a:off x="3611880" y="1920240"/>
            <a:ext cx="566928" cy="566928"/>
          </a:xfrm>
          <a:prstGeom prst="ellipse">
            <a:avLst/>
          </a:prstGeom>
          <a:solidFill>
            <a:srgbClr val="B85042"/>
          </a:solidFill>
          <a:ln w="12700">
            <a:solidFill>
              <a:srgbClr val="B85042"/>
            </a:solidFill>
            <a:prstDash val="solid"/>
          </a:ln>
        </p:spPr>
      </p:sp>
      <p:pic>
        <p:nvPicPr>
          <p:cNvPr id="12" name="Image 1" descr="preencoded.png">    </p:cNvPr>
          <p:cNvPicPr>
            <a:picLocks noChangeAspect="1"/>
          </p:cNvPicPr>
          <p:nvPr/>
        </p:nvPicPr>
        <p:blipFill>
          <a:blip r:embed="rId2"/>
          <a:stretch>
            <a:fillRect/>
          </a:stretch>
        </p:blipFill>
        <p:spPr>
          <a:xfrm>
            <a:off x="3747943" y="2056303"/>
            <a:ext cx="294803" cy="294803"/>
          </a:xfrm>
          <a:prstGeom prst="rect">
            <a:avLst/>
          </a:prstGeom>
        </p:spPr>
      </p:pic>
      <p:sp>
        <p:nvSpPr>
          <p:cNvPr id="13" name="Text 9"/>
          <p:cNvSpPr txBox="1"/>
          <p:nvPr/>
        </p:nvSpPr>
        <p:spPr>
          <a:xfrm>
            <a:off x="3611880" y="2651760"/>
            <a:ext cx="2148840" cy="411480"/>
          </a:xfrm>
          <a:prstGeom prst="rect">
            <a:avLst/>
          </a:prstGeom>
          <a:noFill/>
          <a:ln/>
        </p:spPr>
        <p:txBody>
          <a:bodyPr wrap="square" lIns="0" tIns="0" rIns="0" bIns="0" rtlCol="0" anchor="ctr"/>
          <a:lstStyle/>
          <a:p>
            <a:pPr indent="0" marL="0">
              <a:buNone/>
            </a:pPr>
            <a:r>
              <a:rPr lang="en-US" sz="1600" b="1" dirty="0">
                <a:solidFill>
                  <a:schemeClr val="tx2"/>
                </a:solidFill>
              </a:rPr>
              <a:t>Una rama por semana</a:t>
            </a:r>
            <a:endParaRPr lang="en-US" sz="1600" dirty="0"/>
          </a:p>
        </p:txBody>
      </p:sp>
      <p:sp>
        <p:nvSpPr>
          <p:cNvPr id="14" name="Text 10"/>
          <p:cNvSpPr txBox="1"/>
          <p:nvPr/>
        </p:nvSpPr>
        <p:spPr>
          <a:xfrm>
            <a:off x="3611880" y="3063240"/>
            <a:ext cx="2148840" cy="777240"/>
          </a:xfrm>
          <a:prstGeom prst="rect">
            <a:avLst/>
          </a:prstGeom>
          <a:noFill/>
          <a:ln/>
        </p:spPr>
        <p:txBody>
          <a:bodyPr wrap="square" lIns="0" tIns="0" rIns="0" bIns="0" rtlCol="0" anchor="t"/>
          <a:lstStyle/>
          <a:p>
            <a:pPr indent="0" marL="0">
              <a:buNone/>
            </a:pPr>
            <a:r>
              <a:rPr lang="en-US" sz="1300" dirty="0">
                <a:solidFill>
                  <a:schemeClr val="tx1"/>
                </a:solidFill>
              </a:rPr>
              <a:t>Sugerencia del docente, decisión D11.</a:t>
            </a:r>
            <a:endParaRPr lang="en-US" sz="1300" dirty="0"/>
          </a:p>
        </p:txBody>
      </p:sp>
      <p:sp>
        <p:nvSpPr>
          <p:cNvPr id="15" name="Text 11"/>
          <p:cNvSpPr txBox="1"/>
          <p:nvPr/>
        </p:nvSpPr>
        <p:spPr>
          <a:xfrm>
            <a:off x="5943600" y="2514600"/>
            <a:ext cx="274320" cy="45720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16" name="paso-3"/>
          <p:cNvSpPr/>
          <p:nvPr/>
        </p:nvSpPr>
        <p:spPr>
          <a:xfrm>
            <a:off x="6217920" y="1691640"/>
            <a:ext cx="2560320" cy="2240280"/>
          </a:xfrm>
          <a:prstGeom prst="roundRect">
            <a:avLst>
              <a:gd name="adj" fmla="val 3265"/>
            </a:avLst>
          </a:prstGeom>
          <a:solidFill>
            <a:srgbClr val="E7E8D1"/>
          </a:solidFill>
          <a:ln w="12700">
            <a:solidFill>
              <a:srgbClr val="E7E8D1"/>
            </a:solidFill>
            <a:prstDash val="solid"/>
          </a:ln>
        </p:spPr>
      </p:sp>
      <p:sp>
        <p:nvSpPr>
          <p:cNvPr id="17" name="Shape 13"/>
          <p:cNvSpPr/>
          <p:nvPr/>
        </p:nvSpPr>
        <p:spPr>
          <a:xfrm>
            <a:off x="6446520" y="1920240"/>
            <a:ext cx="566928" cy="566928"/>
          </a:xfrm>
          <a:prstGeom prst="ellipse">
            <a:avLst/>
          </a:prstGeom>
          <a:solidFill>
            <a:srgbClr val="B85042"/>
          </a:solidFill>
          <a:ln w="12700">
            <a:solidFill>
              <a:srgbClr val="B85042"/>
            </a:solidFill>
            <a:prstDash val="solid"/>
          </a:ln>
        </p:spPr>
      </p:sp>
      <p:pic>
        <p:nvPicPr>
          <p:cNvPr id="18" name="Image 2" descr="preencoded.png">    </p:cNvPr>
          <p:cNvPicPr>
            <a:picLocks noChangeAspect="1"/>
          </p:cNvPicPr>
          <p:nvPr/>
        </p:nvPicPr>
        <p:blipFill>
          <a:blip r:embed="rId3"/>
          <a:stretch>
            <a:fillRect/>
          </a:stretch>
        </p:blipFill>
        <p:spPr>
          <a:xfrm>
            <a:off x="6582583" y="2056303"/>
            <a:ext cx="294803" cy="294803"/>
          </a:xfrm>
          <a:prstGeom prst="rect">
            <a:avLst/>
          </a:prstGeom>
        </p:spPr>
      </p:pic>
      <p:sp>
        <p:nvSpPr>
          <p:cNvPr id="19" name="Text 14"/>
          <p:cNvSpPr txBox="1"/>
          <p:nvPr/>
        </p:nvSpPr>
        <p:spPr>
          <a:xfrm>
            <a:off x="6446520" y="2651760"/>
            <a:ext cx="2148840" cy="411480"/>
          </a:xfrm>
          <a:prstGeom prst="rect">
            <a:avLst/>
          </a:prstGeom>
          <a:noFill/>
          <a:ln/>
        </p:spPr>
        <p:txBody>
          <a:bodyPr wrap="square" lIns="0" tIns="0" rIns="0" bIns="0" rtlCol="0" anchor="ctr"/>
          <a:lstStyle/>
          <a:p>
            <a:pPr indent="0" marL="0">
              <a:buNone/>
            </a:pPr>
            <a:r>
              <a:rPr lang="en-US" sz="1600" b="1" dirty="0">
                <a:solidFill>
                  <a:schemeClr val="tx2"/>
                </a:solidFill>
              </a:rPr>
              <a:t>Revisión cruzada</a:t>
            </a:r>
            <a:endParaRPr lang="en-US" sz="1600" dirty="0"/>
          </a:p>
        </p:txBody>
      </p:sp>
      <p:sp>
        <p:nvSpPr>
          <p:cNvPr id="20" name="Text 15"/>
          <p:cNvSpPr txBox="1"/>
          <p:nvPr/>
        </p:nvSpPr>
        <p:spPr>
          <a:xfrm>
            <a:off x="6446520" y="3063240"/>
            <a:ext cx="2148840" cy="777240"/>
          </a:xfrm>
          <a:prstGeom prst="rect">
            <a:avLst/>
          </a:prstGeom>
          <a:noFill/>
          <a:ln/>
        </p:spPr>
        <p:txBody>
          <a:bodyPr wrap="square" lIns="0" tIns="0" rIns="0" bIns="0" rtlCol="0" anchor="t"/>
          <a:lstStyle/>
          <a:p>
            <a:pPr indent="0" marL="0">
              <a:buNone/>
            </a:pPr>
            <a:r>
              <a:rPr lang="en-US" sz="1300" dirty="0">
                <a:solidFill>
                  <a:schemeClr val="tx1"/>
                </a:solidFill>
              </a:rPr>
              <a:t>Pull request revisado por el otro integrante.</a:t>
            </a:r>
            <a:endParaRPr lang="en-US" sz="1300" dirty="0"/>
          </a:p>
        </p:txBody>
      </p:sp>
      <p:sp>
        <p:nvSpPr>
          <p:cNvPr id="21" name="Text 16"/>
          <p:cNvSpPr txBox="1"/>
          <p:nvPr/>
        </p:nvSpPr>
        <p:spPr>
          <a:xfrm>
            <a:off x="8778240" y="2514600"/>
            <a:ext cx="274320" cy="45720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22" name="paso-4"/>
          <p:cNvSpPr/>
          <p:nvPr/>
        </p:nvSpPr>
        <p:spPr>
          <a:xfrm>
            <a:off x="9052560" y="1691640"/>
            <a:ext cx="2560320" cy="2240280"/>
          </a:xfrm>
          <a:prstGeom prst="roundRect">
            <a:avLst>
              <a:gd name="adj" fmla="val 3265"/>
            </a:avLst>
          </a:prstGeom>
          <a:solidFill>
            <a:srgbClr val="F2F3EA"/>
          </a:solidFill>
          <a:ln w="12700">
            <a:solidFill>
              <a:srgbClr val="F2F3EA"/>
            </a:solidFill>
            <a:prstDash val="solid"/>
          </a:ln>
        </p:spPr>
      </p:sp>
      <p:sp>
        <p:nvSpPr>
          <p:cNvPr id="23" name="Shape 18"/>
          <p:cNvSpPr/>
          <p:nvPr/>
        </p:nvSpPr>
        <p:spPr>
          <a:xfrm>
            <a:off x="9281160" y="1920240"/>
            <a:ext cx="566928" cy="566928"/>
          </a:xfrm>
          <a:prstGeom prst="ellipse">
            <a:avLst/>
          </a:prstGeom>
          <a:solidFill>
            <a:srgbClr val="B85042"/>
          </a:solidFill>
          <a:ln w="12700">
            <a:solidFill>
              <a:srgbClr val="B85042"/>
            </a:solidFill>
            <a:prstDash val="solid"/>
          </a:ln>
        </p:spPr>
      </p:sp>
      <p:pic>
        <p:nvPicPr>
          <p:cNvPr id="24" name="Image 3" descr="preencoded.png">    </p:cNvPr>
          <p:cNvPicPr>
            <a:picLocks noChangeAspect="1"/>
          </p:cNvPicPr>
          <p:nvPr/>
        </p:nvPicPr>
        <p:blipFill>
          <a:blip r:embed="rId4"/>
          <a:stretch>
            <a:fillRect/>
          </a:stretch>
        </p:blipFill>
        <p:spPr>
          <a:xfrm>
            <a:off x="9417223" y="2056303"/>
            <a:ext cx="294803" cy="294803"/>
          </a:xfrm>
          <a:prstGeom prst="rect">
            <a:avLst/>
          </a:prstGeom>
        </p:spPr>
      </p:pic>
      <p:sp>
        <p:nvSpPr>
          <p:cNvPr id="25" name="Text 19"/>
          <p:cNvSpPr txBox="1"/>
          <p:nvPr/>
        </p:nvSpPr>
        <p:spPr>
          <a:xfrm>
            <a:off x="9281160" y="2651760"/>
            <a:ext cx="2148840" cy="411480"/>
          </a:xfrm>
          <a:prstGeom prst="rect">
            <a:avLst/>
          </a:prstGeom>
          <a:noFill/>
          <a:ln/>
        </p:spPr>
        <p:txBody>
          <a:bodyPr wrap="square" lIns="0" tIns="0" rIns="0" bIns="0" rtlCol="0" anchor="ctr"/>
          <a:lstStyle/>
          <a:p>
            <a:pPr indent="0" marL="0">
              <a:buNone/>
            </a:pPr>
            <a:r>
              <a:rPr lang="en-US" sz="1600" b="1" dirty="0">
                <a:solidFill>
                  <a:schemeClr val="tx2"/>
                </a:solidFill>
              </a:rPr>
              <a:t>Definition of Done</a:t>
            </a:r>
            <a:endParaRPr lang="en-US" sz="1600" dirty="0"/>
          </a:p>
        </p:txBody>
      </p:sp>
      <p:sp>
        <p:nvSpPr>
          <p:cNvPr id="26" name="Text 20"/>
          <p:cNvSpPr txBox="1"/>
          <p:nvPr/>
        </p:nvSpPr>
        <p:spPr>
          <a:xfrm>
            <a:off x="9281160" y="3063240"/>
            <a:ext cx="2148840" cy="777240"/>
          </a:xfrm>
          <a:prstGeom prst="rect">
            <a:avLst/>
          </a:prstGeom>
          <a:noFill/>
          <a:ln/>
        </p:spPr>
        <p:txBody>
          <a:bodyPr wrap="square" lIns="0" tIns="0" rIns="0" bIns="0" rtlCol="0" anchor="t"/>
          <a:lstStyle/>
          <a:p>
            <a:pPr indent="0" marL="0">
              <a:buNone/>
            </a:pPr>
            <a:r>
              <a:rPr lang="en-US" sz="1300" dirty="0">
                <a:solidFill>
                  <a:schemeClr val="tx1"/>
                </a:solidFill>
              </a:rPr>
              <a:t>Prueba automatizada y captura por historia.</a:t>
            </a:r>
            <a:endParaRPr lang="en-US" sz="1300" dirty="0"/>
          </a:p>
        </p:txBody>
      </p:sp>
      <p:sp>
        <p:nvSpPr>
          <p:cNvPr id="27" name="artefactos"/>
          <p:cNvSpPr/>
          <p:nvPr/>
        </p:nvSpPr>
        <p:spPr>
          <a:xfrm>
            <a:off x="548640" y="4251960"/>
            <a:ext cx="11064240" cy="1783080"/>
          </a:xfrm>
          <a:prstGeom prst="roundRect">
            <a:avLst>
              <a:gd name="adj" fmla="val 4103"/>
            </a:avLst>
          </a:prstGeom>
          <a:solidFill>
            <a:srgbClr val="2E3A3F"/>
          </a:solidFill>
          <a:ln w="12700">
            <a:solidFill>
              <a:srgbClr val="2E3A3F"/>
            </a:solidFill>
            <a:prstDash val="solid"/>
          </a:ln>
        </p:spPr>
      </p:sp>
      <p:sp>
        <p:nvSpPr>
          <p:cNvPr id="28" name="Text 22"/>
          <p:cNvSpPr txBox="1"/>
          <p:nvPr/>
        </p:nvSpPr>
        <p:spPr>
          <a:xfrm>
            <a:off x="868680" y="4434840"/>
            <a:ext cx="5486400" cy="365760"/>
          </a:xfrm>
          <a:prstGeom prst="rect">
            <a:avLst/>
          </a:prstGeom>
          <a:noFill/>
          <a:ln/>
        </p:spPr>
        <p:txBody>
          <a:bodyPr wrap="square" lIns="0" tIns="0" rIns="0" bIns="0" rtlCol="0" anchor="ctr"/>
          <a:lstStyle/>
          <a:p>
            <a:pPr indent="0" marL="0">
              <a:buNone/>
            </a:pPr>
            <a:r>
              <a:rPr lang="en-US" sz="1400" b="1" dirty="0">
                <a:solidFill>
                  <a:schemeClr val="accent6"/>
                </a:solidFill>
              </a:rPr>
              <a:t>Artefactos del marco, en el repositorio</a:t>
            </a:r>
            <a:endParaRPr lang="en-US" sz="1400" dirty="0"/>
          </a:p>
        </p:txBody>
      </p:sp>
      <p:sp>
        <p:nvSpPr>
          <p:cNvPr id="29" name="Text 23"/>
          <p:cNvSpPr txBox="1"/>
          <p:nvPr/>
        </p:nvSpPr>
        <p:spPr>
          <a:xfrm>
            <a:off x="868680" y="4892040"/>
            <a:ext cx="3520440" cy="411480"/>
          </a:xfrm>
          <a:prstGeom prst="rect">
            <a:avLst/>
          </a:prstGeom>
          <a:noFill/>
          <a:ln/>
        </p:spPr>
        <p:txBody>
          <a:bodyPr wrap="square" lIns="0" tIns="0" rIns="0" bIns="0" rtlCol="0" anchor="ctr"/>
          <a:lstStyle/>
          <a:p>
            <a:pPr indent="0" marL="0">
              <a:buNone/>
            </a:pPr>
            <a:r>
              <a:rPr lang="en-US" sz="1400" dirty="0">
                <a:solidFill>
                  <a:schemeClr val="bg1"/>
                </a:solidFill>
              </a:rPr>
              <a:t>■  Product Vision</a:t>
            </a:r>
            <a:endParaRPr lang="en-US" sz="1400" dirty="0"/>
          </a:p>
        </p:txBody>
      </p:sp>
      <p:sp>
        <p:nvSpPr>
          <p:cNvPr id="30" name="Text 24"/>
          <p:cNvSpPr txBox="1"/>
          <p:nvPr/>
        </p:nvSpPr>
        <p:spPr>
          <a:xfrm>
            <a:off x="4480560" y="4892040"/>
            <a:ext cx="3520440" cy="411480"/>
          </a:xfrm>
          <a:prstGeom prst="rect">
            <a:avLst/>
          </a:prstGeom>
          <a:noFill/>
          <a:ln/>
        </p:spPr>
        <p:txBody>
          <a:bodyPr wrap="square" lIns="0" tIns="0" rIns="0" bIns="0" rtlCol="0" anchor="ctr"/>
          <a:lstStyle/>
          <a:p>
            <a:pPr indent="0" marL="0">
              <a:buNone/>
            </a:pPr>
            <a:r>
              <a:rPr lang="en-US" sz="1400" dirty="0">
                <a:solidFill>
                  <a:schemeClr val="bg1"/>
                </a:solidFill>
              </a:rPr>
              <a:t>■  Product Backlog: 28 historias, 100 PF</a:t>
            </a:r>
            <a:endParaRPr lang="en-US" sz="1400" dirty="0"/>
          </a:p>
        </p:txBody>
      </p:sp>
      <p:sp>
        <p:nvSpPr>
          <p:cNvPr id="31" name="Text 25"/>
          <p:cNvSpPr txBox="1"/>
          <p:nvPr/>
        </p:nvSpPr>
        <p:spPr>
          <a:xfrm>
            <a:off x="8092440" y="4892040"/>
            <a:ext cx="3520440" cy="411480"/>
          </a:xfrm>
          <a:prstGeom prst="rect">
            <a:avLst/>
          </a:prstGeom>
          <a:noFill/>
          <a:ln/>
        </p:spPr>
        <p:txBody>
          <a:bodyPr wrap="square" lIns="0" tIns="0" rIns="0" bIns="0" rtlCol="0" anchor="ctr"/>
          <a:lstStyle/>
          <a:p>
            <a:pPr indent="0" marL="0">
              <a:buNone/>
            </a:pPr>
            <a:r>
              <a:rPr lang="en-US" sz="1400" dirty="0">
                <a:solidFill>
                  <a:schemeClr val="bg1"/>
                </a:solidFill>
              </a:rPr>
              <a:t>■  Definition of Done</a:t>
            </a:r>
            <a:endParaRPr lang="en-US" sz="1400" dirty="0"/>
          </a:p>
        </p:txBody>
      </p:sp>
      <p:sp>
        <p:nvSpPr>
          <p:cNvPr id="32" name="Text 26"/>
          <p:cNvSpPr txBox="1"/>
          <p:nvPr/>
        </p:nvSpPr>
        <p:spPr>
          <a:xfrm>
            <a:off x="868680" y="5394960"/>
            <a:ext cx="3520440" cy="411480"/>
          </a:xfrm>
          <a:prstGeom prst="rect">
            <a:avLst/>
          </a:prstGeom>
          <a:noFill/>
          <a:ln/>
        </p:spPr>
        <p:txBody>
          <a:bodyPr wrap="square" lIns="0" tIns="0" rIns="0" bIns="0" rtlCol="0" anchor="ctr"/>
          <a:lstStyle/>
          <a:p>
            <a:pPr indent="0" marL="0">
              <a:buNone/>
            </a:pPr>
            <a:r>
              <a:rPr lang="en-US" sz="1400" dirty="0">
                <a:solidFill>
                  <a:schemeClr val="bg1"/>
                </a:solidFill>
              </a:rPr>
              <a:t>■  Documento de Diseño con 7 diagramas UML</a:t>
            </a:r>
            <a:endParaRPr lang="en-US" sz="1400" dirty="0"/>
          </a:p>
        </p:txBody>
      </p:sp>
      <p:sp>
        <p:nvSpPr>
          <p:cNvPr id="33" name="Text 27"/>
          <p:cNvSpPr txBox="1"/>
          <p:nvPr/>
        </p:nvSpPr>
        <p:spPr>
          <a:xfrm>
            <a:off x="4480560" y="5394960"/>
            <a:ext cx="3520440" cy="411480"/>
          </a:xfrm>
          <a:prstGeom prst="rect">
            <a:avLst/>
          </a:prstGeom>
          <a:noFill/>
          <a:ln/>
        </p:spPr>
        <p:txBody>
          <a:bodyPr wrap="square" lIns="0" tIns="0" rIns="0" bIns="0" rtlCol="0" anchor="ctr"/>
          <a:lstStyle/>
          <a:p>
            <a:pPr indent="0" marL="0">
              <a:buNone/>
            </a:pPr>
            <a:r>
              <a:rPr lang="en-US" sz="1400" dirty="0">
                <a:solidFill>
                  <a:schemeClr val="bg1"/>
                </a:solidFill>
              </a:rPr>
              <a:t>■  Bitácora de 13 decisiones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40080"/>
          </a:xfrm>
          <a:prstGeom prst="rect">
            <a:avLst/>
          </a:prstGeom>
          <a:noFill/>
          <a:ln/>
        </p:spPr>
        <p:txBody>
          <a:bodyPr wrap="square" rtlCol="0" anchor="ctr"/>
          <a:lstStyle/>
          <a:p>
            <a:pPr algn="l" indent="0" marL="0">
              <a:buNone/>
            </a:pPr>
            <a:r>
              <a:rPr lang="en-US" sz="3200" b="1" dirty="0">
                <a:solidFill>
                  <a:schemeClr val="tx2"/>
                </a:solidFill>
              </a:rPr>
              <a:t>Plan de trabajo y avance</a:t>
            </a:r>
            <a:endParaRPr lang="en-US" sz="3200" dirty="0"/>
          </a:p>
        </p:txBody>
      </p:sp>
      <p:sp>
        <p:nvSpPr>
          <p:cNvPr id="3" name="Text 0"/>
          <p:cNvSpPr/>
          <p:nvPr>
            <p:ph idx="101" type="body" hasCustomPrompt="1"/>
          </p:nvPr>
        </p:nvSpPr>
        <p:spPr>
          <a:xfrm>
            <a:off x="548640" y="960120"/>
            <a:ext cx="11064240" cy="411480"/>
          </a:xfrm>
          <a:prstGeom prst="rect">
            <a:avLst/>
          </a:prstGeom>
          <a:noFill/>
          <a:ln/>
        </p:spPr>
        <p:txBody>
          <a:bodyPr wrap="square" rtlCol="0" anchor="t"/>
          <a:lstStyle/>
          <a:p>
            <a:pPr algn="l" indent="0" marL="0">
              <a:buNone/>
            </a:pPr>
            <a:r>
              <a:rPr lang="en-US" sz="1500" i="1" dirty="0">
                <a:solidFill>
                  <a:schemeClr val="accent4"/>
                </a:solidFill>
              </a:rPr>
              <a:t>Estado de cada actividad al cierre de la semana 8, de 18</a:t>
            </a:r>
            <a:endParaRPr lang="en-US" sz="1500" dirty="0"/>
          </a:p>
        </p:txBody>
      </p:sp>
      <p:sp>
        <p:nvSpPr>
          <p:cNvPr id="4" name="Text 2"/>
          <p:cNvSpPr txBox="1"/>
          <p:nvPr/>
        </p:nvSpPr>
        <p:spPr>
          <a:xfrm>
            <a:off x="3931920" y="1536192"/>
            <a:ext cx="426720" cy="274320"/>
          </a:xfrm>
          <a:prstGeom prst="rect">
            <a:avLst/>
          </a:prstGeom>
          <a:noFill/>
          <a:ln/>
        </p:spPr>
        <p:txBody>
          <a:bodyPr wrap="square" lIns="0" tIns="0" rIns="0" bIns="0" rtlCol="0" anchor="ctr"/>
          <a:lstStyle/>
          <a:p>
            <a:pPr algn="ctr" indent="0" marL="0">
              <a:buNone/>
            </a:pPr>
            <a:r>
              <a:rPr lang="en-US" sz="1000" dirty="0">
                <a:solidFill>
                  <a:schemeClr val="accent4"/>
                </a:solidFill>
              </a:rPr>
              <a:t>1</a:t>
            </a:r>
            <a:endParaRPr lang="en-US" sz="1000" dirty="0"/>
          </a:p>
        </p:txBody>
      </p:sp>
      <p:sp>
        <p:nvSpPr>
          <p:cNvPr id="5" name="Text 3"/>
          <p:cNvSpPr txBox="1"/>
          <p:nvPr/>
        </p:nvSpPr>
        <p:spPr>
          <a:xfrm>
            <a:off x="4358640" y="1536192"/>
            <a:ext cx="426720" cy="274320"/>
          </a:xfrm>
          <a:prstGeom prst="rect">
            <a:avLst/>
          </a:prstGeom>
          <a:noFill/>
          <a:ln/>
        </p:spPr>
        <p:txBody>
          <a:bodyPr wrap="square" lIns="0" tIns="0" rIns="0" bIns="0" rtlCol="0" anchor="ctr"/>
          <a:lstStyle/>
          <a:p>
            <a:pPr algn="ctr" indent="0" marL="0">
              <a:buNone/>
            </a:pPr>
            <a:r>
              <a:rPr lang="en-US" sz="1000" dirty="0">
                <a:solidFill>
                  <a:schemeClr val="accent4"/>
                </a:solidFill>
              </a:rPr>
              <a:t>2</a:t>
            </a:r>
            <a:endParaRPr lang="en-US" sz="1000" dirty="0"/>
          </a:p>
        </p:txBody>
      </p:sp>
      <p:sp>
        <p:nvSpPr>
          <p:cNvPr id="6" name="Text 4"/>
          <p:cNvSpPr txBox="1"/>
          <p:nvPr/>
        </p:nvSpPr>
        <p:spPr>
          <a:xfrm>
            <a:off x="4785360" y="1536192"/>
            <a:ext cx="426720" cy="274320"/>
          </a:xfrm>
          <a:prstGeom prst="rect">
            <a:avLst/>
          </a:prstGeom>
          <a:noFill/>
          <a:ln/>
        </p:spPr>
        <p:txBody>
          <a:bodyPr wrap="square" lIns="0" tIns="0" rIns="0" bIns="0" rtlCol="0" anchor="ctr"/>
          <a:lstStyle/>
          <a:p>
            <a:pPr algn="ctr" indent="0" marL="0">
              <a:buNone/>
            </a:pPr>
            <a:r>
              <a:rPr lang="en-US" sz="1000" dirty="0">
                <a:solidFill>
                  <a:schemeClr val="accent4"/>
                </a:solidFill>
              </a:rPr>
              <a:t>3</a:t>
            </a:r>
            <a:endParaRPr lang="en-US" sz="1000" dirty="0"/>
          </a:p>
        </p:txBody>
      </p:sp>
      <p:sp>
        <p:nvSpPr>
          <p:cNvPr id="7" name="Text 5"/>
          <p:cNvSpPr txBox="1"/>
          <p:nvPr/>
        </p:nvSpPr>
        <p:spPr>
          <a:xfrm>
            <a:off x="5212080" y="1536192"/>
            <a:ext cx="426720" cy="274320"/>
          </a:xfrm>
          <a:prstGeom prst="rect">
            <a:avLst/>
          </a:prstGeom>
          <a:noFill/>
          <a:ln/>
        </p:spPr>
        <p:txBody>
          <a:bodyPr wrap="square" lIns="0" tIns="0" rIns="0" bIns="0" rtlCol="0" anchor="ctr"/>
          <a:lstStyle/>
          <a:p>
            <a:pPr algn="ctr" indent="0" marL="0">
              <a:buNone/>
            </a:pPr>
            <a:r>
              <a:rPr lang="en-US" sz="1000" dirty="0">
                <a:solidFill>
                  <a:schemeClr val="accent4"/>
                </a:solidFill>
              </a:rPr>
              <a:t>4</a:t>
            </a:r>
            <a:endParaRPr lang="en-US" sz="1000" dirty="0"/>
          </a:p>
        </p:txBody>
      </p:sp>
      <p:sp>
        <p:nvSpPr>
          <p:cNvPr id="8" name="Text 6"/>
          <p:cNvSpPr txBox="1"/>
          <p:nvPr/>
        </p:nvSpPr>
        <p:spPr>
          <a:xfrm>
            <a:off x="5638800" y="1536192"/>
            <a:ext cx="426720" cy="274320"/>
          </a:xfrm>
          <a:prstGeom prst="rect">
            <a:avLst/>
          </a:prstGeom>
          <a:noFill/>
          <a:ln/>
        </p:spPr>
        <p:txBody>
          <a:bodyPr wrap="square" lIns="0" tIns="0" rIns="0" bIns="0" rtlCol="0" anchor="ctr"/>
          <a:lstStyle/>
          <a:p>
            <a:pPr algn="ctr" indent="0" marL="0">
              <a:buNone/>
            </a:pPr>
            <a:r>
              <a:rPr lang="en-US" sz="1000" dirty="0">
                <a:solidFill>
                  <a:schemeClr val="accent4"/>
                </a:solidFill>
              </a:rPr>
              <a:t>5</a:t>
            </a:r>
            <a:endParaRPr lang="en-US" sz="1000" dirty="0"/>
          </a:p>
        </p:txBody>
      </p:sp>
      <p:sp>
        <p:nvSpPr>
          <p:cNvPr id="9" name="Text 7"/>
          <p:cNvSpPr txBox="1"/>
          <p:nvPr/>
        </p:nvSpPr>
        <p:spPr>
          <a:xfrm>
            <a:off x="6065520" y="1536192"/>
            <a:ext cx="426720" cy="274320"/>
          </a:xfrm>
          <a:prstGeom prst="rect">
            <a:avLst/>
          </a:prstGeom>
          <a:noFill/>
          <a:ln/>
        </p:spPr>
        <p:txBody>
          <a:bodyPr wrap="square" lIns="0" tIns="0" rIns="0" bIns="0" rtlCol="0" anchor="ctr"/>
          <a:lstStyle/>
          <a:p>
            <a:pPr algn="ctr" indent="0" marL="0">
              <a:buNone/>
            </a:pPr>
            <a:r>
              <a:rPr lang="en-US" sz="1000" dirty="0">
                <a:solidFill>
                  <a:schemeClr val="accent4"/>
                </a:solidFill>
              </a:rPr>
              <a:t>6</a:t>
            </a:r>
            <a:endParaRPr lang="en-US" sz="1000" dirty="0"/>
          </a:p>
        </p:txBody>
      </p:sp>
      <p:sp>
        <p:nvSpPr>
          <p:cNvPr id="10" name="Text 8"/>
          <p:cNvSpPr txBox="1"/>
          <p:nvPr/>
        </p:nvSpPr>
        <p:spPr>
          <a:xfrm>
            <a:off x="6492240" y="1536192"/>
            <a:ext cx="426720" cy="274320"/>
          </a:xfrm>
          <a:prstGeom prst="rect">
            <a:avLst/>
          </a:prstGeom>
          <a:noFill/>
          <a:ln/>
        </p:spPr>
        <p:txBody>
          <a:bodyPr wrap="square" lIns="0" tIns="0" rIns="0" bIns="0" rtlCol="0" anchor="ctr"/>
          <a:lstStyle/>
          <a:p>
            <a:pPr algn="ctr" indent="0" marL="0">
              <a:buNone/>
            </a:pPr>
            <a:r>
              <a:rPr lang="en-US" sz="1000" dirty="0">
                <a:solidFill>
                  <a:schemeClr val="accent4"/>
                </a:solidFill>
              </a:rPr>
              <a:t>7</a:t>
            </a:r>
            <a:endParaRPr lang="en-US" sz="1000" dirty="0"/>
          </a:p>
        </p:txBody>
      </p:sp>
      <p:sp>
        <p:nvSpPr>
          <p:cNvPr id="11" name="Text 9"/>
          <p:cNvSpPr txBox="1"/>
          <p:nvPr/>
        </p:nvSpPr>
        <p:spPr>
          <a:xfrm>
            <a:off x="6918960" y="1536192"/>
            <a:ext cx="426720" cy="274320"/>
          </a:xfrm>
          <a:prstGeom prst="rect">
            <a:avLst/>
          </a:prstGeom>
          <a:noFill/>
          <a:ln/>
        </p:spPr>
        <p:txBody>
          <a:bodyPr wrap="square" lIns="0" tIns="0" rIns="0" bIns="0" rtlCol="0" anchor="ctr"/>
          <a:lstStyle/>
          <a:p>
            <a:pPr algn="ctr" indent="0" marL="0">
              <a:buNone/>
            </a:pPr>
            <a:r>
              <a:rPr lang="en-US" sz="1000" dirty="0">
                <a:solidFill>
                  <a:schemeClr val="accent4"/>
                </a:solidFill>
              </a:rPr>
              <a:t>8</a:t>
            </a:r>
            <a:endParaRPr lang="en-US" sz="1000" dirty="0"/>
          </a:p>
        </p:txBody>
      </p:sp>
      <p:sp>
        <p:nvSpPr>
          <p:cNvPr id="12" name="Text 10"/>
          <p:cNvSpPr txBox="1"/>
          <p:nvPr/>
        </p:nvSpPr>
        <p:spPr>
          <a:xfrm>
            <a:off x="7345680" y="1536192"/>
            <a:ext cx="426720" cy="274320"/>
          </a:xfrm>
          <a:prstGeom prst="rect">
            <a:avLst/>
          </a:prstGeom>
          <a:noFill/>
          <a:ln/>
        </p:spPr>
        <p:txBody>
          <a:bodyPr wrap="square" lIns="0" tIns="0" rIns="0" bIns="0" rtlCol="0" anchor="ctr"/>
          <a:lstStyle/>
          <a:p>
            <a:pPr algn="ctr" indent="0" marL="0">
              <a:buNone/>
            </a:pPr>
            <a:r>
              <a:rPr lang="en-US" sz="1000" dirty="0">
                <a:solidFill>
                  <a:schemeClr val="accent4"/>
                </a:solidFill>
              </a:rPr>
              <a:t>9</a:t>
            </a:r>
            <a:endParaRPr lang="en-US" sz="1000" dirty="0"/>
          </a:p>
        </p:txBody>
      </p:sp>
      <p:sp>
        <p:nvSpPr>
          <p:cNvPr id="13" name="Text 11"/>
          <p:cNvSpPr txBox="1"/>
          <p:nvPr/>
        </p:nvSpPr>
        <p:spPr>
          <a:xfrm>
            <a:off x="7772400" y="1536192"/>
            <a:ext cx="426720" cy="274320"/>
          </a:xfrm>
          <a:prstGeom prst="rect">
            <a:avLst/>
          </a:prstGeom>
          <a:noFill/>
          <a:ln/>
        </p:spPr>
        <p:txBody>
          <a:bodyPr wrap="square" lIns="0" tIns="0" rIns="0" bIns="0" rtlCol="0" anchor="ctr"/>
          <a:lstStyle/>
          <a:p>
            <a:pPr algn="ctr" indent="0" marL="0">
              <a:buNone/>
            </a:pPr>
            <a:r>
              <a:rPr lang="en-US" sz="1000" dirty="0">
                <a:solidFill>
                  <a:schemeClr val="accent4"/>
                </a:solidFill>
              </a:rPr>
              <a:t>10</a:t>
            </a:r>
            <a:endParaRPr lang="en-US" sz="1000" dirty="0"/>
          </a:p>
        </p:txBody>
      </p:sp>
      <p:sp>
        <p:nvSpPr>
          <p:cNvPr id="14" name="Text 12"/>
          <p:cNvSpPr txBox="1"/>
          <p:nvPr/>
        </p:nvSpPr>
        <p:spPr>
          <a:xfrm>
            <a:off x="8199120" y="1536192"/>
            <a:ext cx="426720" cy="274320"/>
          </a:xfrm>
          <a:prstGeom prst="rect">
            <a:avLst/>
          </a:prstGeom>
          <a:noFill/>
          <a:ln/>
        </p:spPr>
        <p:txBody>
          <a:bodyPr wrap="square" lIns="0" tIns="0" rIns="0" bIns="0" rtlCol="0" anchor="ctr"/>
          <a:lstStyle/>
          <a:p>
            <a:pPr algn="ctr" indent="0" marL="0">
              <a:buNone/>
            </a:pPr>
            <a:r>
              <a:rPr lang="en-US" sz="1000" dirty="0">
                <a:solidFill>
                  <a:schemeClr val="accent4"/>
                </a:solidFill>
              </a:rPr>
              <a:t>11</a:t>
            </a:r>
            <a:endParaRPr lang="en-US" sz="1000" dirty="0"/>
          </a:p>
        </p:txBody>
      </p:sp>
      <p:sp>
        <p:nvSpPr>
          <p:cNvPr id="15" name="Text 13"/>
          <p:cNvSpPr txBox="1"/>
          <p:nvPr/>
        </p:nvSpPr>
        <p:spPr>
          <a:xfrm>
            <a:off x="8625840" y="1536192"/>
            <a:ext cx="426720" cy="274320"/>
          </a:xfrm>
          <a:prstGeom prst="rect">
            <a:avLst/>
          </a:prstGeom>
          <a:noFill/>
          <a:ln/>
        </p:spPr>
        <p:txBody>
          <a:bodyPr wrap="square" lIns="0" tIns="0" rIns="0" bIns="0" rtlCol="0" anchor="ctr"/>
          <a:lstStyle/>
          <a:p>
            <a:pPr algn="ctr" indent="0" marL="0">
              <a:buNone/>
            </a:pPr>
            <a:r>
              <a:rPr lang="en-US" sz="1000" dirty="0">
                <a:solidFill>
                  <a:schemeClr val="accent4"/>
                </a:solidFill>
              </a:rPr>
              <a:t>12</a:t>
            </a:r>
            <a:endParaRPr lang="en-US" sz="1000" dirty="0"/>
          </a:p>
        </p:txBody>
      </p:sp>
      <p:sp>
        <p:nvSpPr>
          <p:cNvPr id="16" name="Text 14"/>
          <p:cNvSpPr txBox="1"/>
          <p:nvPr/>
        </p:nvSpPr>
        <p:spPr>
          <a:xfrm>
            <a:off x="9052560" y="1536192"/>
            <a:ext cx="426720" cy="274320"/>
          </a:xfrm>
          <a:prstGeom prst="rect">
            <a:avLst/>
          </a:prstGeom>
          <a:noFill/>
          <a:ln/>
        </p:spPr>
        <p:txBody>
          <a:bodyPr wrap="square" lIns="0" tIns="0" rIns="0" bIns="0" rtlCol="0" anchor="ctr"/>
          <a:lstStyle/>
          <a:p>
            <a:pPr algn="ctr" indent="0" marL="0">
              <a:buNone/>
            </a:pPr>
            <a:r>
              <a:rPr lang="en-US" sz="1000" dirty="0">
                <a:solidFill>
                  <a:schemeClr val="accent4"/>
                </a:solidFill>
              </a:rPr>
              <a:t>13</a:t>
            </a:r>
            <a:endParaRPr lang="en-US" sz="1000" dirty="0"/>
          </a:p>
        </p:txBody>
      </p:sp>
      <p:sp>
        <p:nvSpPr>
          <p:cNvPr id="17" name="Text 15"/>
          <p:cNvSpPr txBox="1"/>
          <p:nvPr/>
        </p:nvSpPr>
        <p:spPr>
          <a:xfrm>
            <a:off x="9479280" y="1536192"/>
            <a:ext cx="426720" cy="274320"/>
          </a:xfrm>
          <a:prstGeom prst="rect">
            <a:avLst/>
          </a:prstGeom>
          <a:noFill/>
          <a:ln/>
        </p:spPr>
        <p:txBody>
          <a:bodyPr wrap="square" lIns="0" tIns="0" rIns="0" bIns="0" rtlCol="0" anchor="ctr"/>
          <a:lstStyle/>
          <a:p>
            <a:pPr algn="ctr" indent="0" marL="0">
              <a:buNone/>
            </a:pPr>
            <a:r>
              <a:rPr lang="en-US" sz="1000" dirty="0">
                <a:solidFill>
                  <a:schemeClr val="accent4"/>
                </a:solidFill>
              </a:rPr>
              <a:t>14</a:t>
            </a:r>
            <a:endParaRPr lang="en-US" sz="1000" dirty="0"/>
          </a:p>
        </p:txBody>
      </p:sp>
      <p:sp>
        <p:nvSpPr>
          <p:cNvPr id="18" name="Text 16"/>
          <p:cNvSpPr txBox="1"/>
          <p:nvPr/>
        </p:nvSpPr>
        <p:spPr>
          <a:xfrm>
            <a:off x="9906000" y="1536192"/>
            <a:ext cx="426720" cy="274320"/>
          </a:xfrm>
          <a:prstGeom prst="rect">
            <a:avLst/>
          </a:prstGeom>
          <a:noFill/>
          <a:ln/>
        </p:spPr>
        <p:txBody>
          <a:bodyPr wrap="square" lIns="0" tIns="0" rIns="0" bIns="0" rtlCol="0" anchor="ctr"/>
          <a:lstStyle/>
          <a:p>
            <a:pPr algn="ctr" indent="0" marL="0">
              <a:buNone/>
            </a:pPr>
            <a:r>
              <a:rPr lang="en-US" sz="1000" dirty="0">
                <a:solidFill>
                  <a:schemeClr val="accent4"/>
                </a:solidFill>
              </a:rPr>
              <a:t>15</a:t>
            </a:r>
            <a:endParaRPr lang="en-US" sz="1000" dirty="0"/>
          </a:p>
        </p:txBody>
      </p:sp>
      <p:sp>
        <p:nvSpPr>
          <p:cNvPr id="19" name="Text 17"/>
          <p:cNvSpPr txBox="1"/>
          <p:nvPr/>
        </p:nvSpPr>
        <p:spPr>
          <a:xfrm>
            <a:off x="10332720" y="1536192"/>
            <a:ext cx="426720" cy="274320"/>
          </a:xfrm>
          <a:prstGeom prst="rect">
            <a:avLst/>
          </a:prstGeom>
          <a:noFill/>
          <a:ln/>
        </p:spPr>
        <p:txBody>
          <a:bodyPr wrap="square" lIns="0" tIns="0" rIns="0" bIns="0" rtlCol="0" anchor="ctr"/>
          <a:lstStyle/>
          <a:p>
            <a:pPr algn="ctr" indent="0" marL="0">
              <a:buNone/>
            </a:pPr>
            <a:r>
              <a:rPr lang="en-US" sz="1000" dirty="0">
                <a:solidFill>
                  <a:schemeClr val="accent4"/>
                </a:solidFill>
              </a:rPr>
              <a:t>16</a:t>
            </a:r>
            <a:endParaRPr lang="en-US" sz="1000" dirty="0"/>
          </a:p>
        </p:txBody>
      </p:sp>
      <p:sp>
        <p:nvSpPr>
          <p:cNvPr id="20" name="Text 18"/>
          <p:cNvSpPr txBox="1"/>
          <p:nvPr/>
        </p:nvSpPr>
        <p:spPr>
          <a:xfrm>
            <a:off x="10759440" y="1536192"/>
            <a:ext cx="426720" cy="274320"/>
          </a:xfrm>
          <a:prstGeom prst="rect">
            <a:avLst/>
          </a:prstGeom>
          <a:noFill/>
          <a:ln/>
        </p:spPr>
        <p:txBody>
          <a:bodyPr wrap="square" lIns="0" tIns="0" rIns="0" bIns="0" rtlCol="0" anchor="ctr"/>
          <a:lstStyle/>
          <a:p>
            <a:pPr algn="ctr" indent="0" marL="0">
              <a:buNone/>
            </a:pPr>
            <a:r>
              <a:rPr lang="en-US" sz="1000" dirty="0">
                <a:solidFill>
                  <a:schemeClr val="accent4"/>
                </a:solidFill>
              </a:rPr>
              <a:t>17</a:t>
            </a:r>
            <a:endParaRPr lang="en-US" sz="1000" dirty="0"/>
          </a:p>
        </p:txBody>
      </p:sp>
      <p:sp>
        <p:nvSpPr>
          <p:cNvPr id="21" name="Text 19"/>
          <p:cNvSpPr txBox="1"/>
          <p:nvPr/>
        </p:nvSpPr>
        <p:spPr>
          <a:xfrm>
            <a:off x="11186160" y="1536192"/>
            <a:ext cx="426720" cy="274320"/>
          </a:xfrm>
          <a:prstGeom prst="rect">
            <a:avLst/>
          </a:prstGeom>
          <a:noFill/>
          <a:ln/>
        </p:spPr>
        <p:txBody>
          <a:bodyPr wrap="square" lIns="0" tIns="0" rIns="0" bIns="0" rtlCol="0" anchor="ctr"/>
          <a:lstStyle/>
          <a:p>
            <a:pPr algn="ctr" indent="0" marL="0">
              <a:buNone/>
            </a:pPr>
            <a:r>
              <a:rPr lang="en-US" sz="1000" dirty="0">
                <a:solidFill>
                  <a:schemeClr val="accent4"/>
                </a:solidFill>
              </a:rPr>
              <a:t>18</a:t>
            </a:r>
            <a:endParaRPr lang="en-US" sz="1000" dirty="0"/>
          </a:p>
        </p:txBody>
      </p:sp>
      <p:sp>
        <p:nvSpPr>
          <p:cNvPr id="22" name="Shape 20"/>
          <p:cNvSpPr/>
          <p:nvPr/>
        </p:nvSpPr>
        <p:spPr>
          <a:xfrm>
            <a:off x="548640" y="1883664"/>
            <a:ext cx="11064240" cy="384048"/>
          </a:xfrm>
          <a:prstGeom prst="rect">
            <a:avLst/>
          </a:prstGeom>
          <a:solidFill>
            <a:srgbClr val="F7F7F2"/>
          </a:solidFill>
          <a:ln w="12700">
            <a:solidFill>
              <a:srgbClr val="F7F7F2"/>
            </a:solidFill>
            <a:prstDash val="solid"/>
          </a:ln>
        </p:spPr>
      </p:sp>
      <p:sp>
        <p:nvSpPr>
          <p:cNvPr id="23" name="Text 21"/>
          <p:cNvSpPr txBox="1"/>
          <p:nvPr/>
        </p:nvSpPr>
        <p:spPr>
          <a:xfrm>
            <a:off x="640080" y="1920240"/>
            <a:ext cx="3200400" cy="310896"/>
          </a:xfrm>
          <a:prstGeom prst="rect">
            <a:avLst/>
          </a:prstGeom>
          <a:noFill/>
          <a:ln/>
        </p:spPr>
        <p:txBody>
          <a:bodyPr wrap="square" lIns="0" tIns="0" rIns="0" bIns="0" rtlCol="0" anchor="ctr"/>
          <a:lstStyle/>
          <a:p>
            <a:pPr indent="0" marL="0">
              <a:buNone/>
            </a:pPr>
            <a:r>
              <a:rPr lang="en-US" sz="1300" dirty="0">
                <a:solidFill>
                  <a:schemeClr val="tx1"/>
                </a:solidFill>
              </a:rPr>
              <a:t>Definición del proyecto</a:t>
            </a:r>
            <a:endParaRPr lang="en-US" sz="1300" dirty="0"/>
          </a:p>
        </p:txBody>
      </p:sp>
      <p:sp>
        <p:nvSpPr>
          <p:cNvPr id="24" name="Shape 22"/>
          <p:cNvSpPr/>
          <p:nvPr/>
        </p:nvSpPr>
        <p:spPr>
          <a:xfrm>
            <a:off x="3959352" y="1965960"/>
            <a:ext cx="1652016" cy="219456"/>
          </a:xfrm>
          <a:prstGeom prst="roundRect">
            <a:avLst>
              <a:gd name="adj" fmla="val 20833"/>
            </a:avLst>
          </a:prstGeom>
          <a:solidFill>
            <a:srgbClr val="A7BEAE"/>
          </a:solidFill>
          <a:ln w="12700">
            <a:solidFill>
              <a:srgbClr val="A7BEAE"/>
            </a:solidFill>
            <a:prstDash val="solid"/>
          </a:ln>
        </p:spPr>
      </p:sp>
      <p:sp>
        <p:nvSpPr>
          <p:cNvPr id="25" name="Text 23"/>
          <p:cNvSpPr txBox="1"/>
          <p:nvPr/>
        </p:nvSpPr>
        <p:spPr>
          <a:xfrm>
            <a:off x="640080" y="2304288"/>
            <a:ext cx="3200400" cy="310896"/>
          </a:xfrm>
          <a:prstGeom prst="rect">
            <a:avLst/>
          </a:prstGeom>
          <a:noFill/>
          <a:ln/>
        </p:spPr>
        <p:txBody>
          <a:bodyPr wrap="square" lIns="0" tIns="0" rIns="0" bIns="0" rtlCol="0" anchor="ctr"/>
          <a:lstStyle/>
          <a:p>
            <a:pPr indent="0" marL="0">
              <a:buNone/>
            </a:pPr>
            <a:r>
              <a:rPr lang="en-US" sz="1300" dirty="0">
                <a:solidFill>
                  <a:schemeClr val="tx1"/>
                </a:solidFill>
              </a:rPr>
              <a:t>Diseño del modelo de datos</a:t>
            </a:r>
            <a:endParaRPr lang="en-US" sz="1300" dirty="0"/>
          </a:p>
        </p:txBody>
      </p:sp>
      <p:sp>
        <p:nvSpPr>
          <p:cNvPr id="26" name="Shape 24"/>
          <p:cNvSpPr/>
          <p:nvPr/>
        </p:nvSpPr>
        <p:spPr>
          <a:xfrm>
            <a:off x="5239512" y="2350008"/>
            <a:ext cx="798576" cy="219456"/>
          </a:xfrm>
          <a:prstGeom prst="roundRect">
            <a:avLst>
              <a:gd name="adj" fmla="val 20833"/>
            </a:avLst>
          </a:prstGeom>
          <a:solidFill>
            <a:srgbClr val="A7BEAE"/>
          </a:solidFill>
          <a:ln w="12700">
            <a:solidFill>
              <a:srgbClr val="A7BEAE"/>
            </a:solidFill>
            <a:prstDash val="solid"/>
          </a:ln>
        </p:spPr>
      </p:sp>
      <p:sp>
        <p:nvSpPr>
          <p:cNvPr id="27" name="Shape 25"/>
          <p:cNvSpPr/>
          <p:nvPr/>
        </p:nvSpPr>
        <p:spPr>
          <a:xfrm>
            <a:off x="548640" y="2651760"/>
            <a:ext cx="11064240" cy="384048"/>
          </a:xfrm>
          <a:prstGeom prst="rect">
            <a:avLst/>
          </a:prstGeom>
          <a:solidFill>
            <a:srgbClr val="F7F7F2"/>
          </a:solidFill>
          <a:ln w="12700">
            <a:solidFill>
              <a:srgbClr val="F7F7F2"/>
            </a:solidFill>
            <a:prstDash val="solid"/>
          </a:ln>
        </p:spPr>
      </p:sp>
      <p:sp>
        <p:nvSpPr>
          <p:cNvPr id="28" name="Text 26"/>
          <p:cNvSpPr txBox="1"/>
          <p:nvPr/>
        </p:nvSpPr>
        <p:spPr>
          <a:xfrm>
            <a:off x="640080" y="2688336"/>
            <a:ext cx="3200400" cy="310896"/>
          </a:xfrm>
          <a:prstGeom prst="rect">
            <a:avLst/>
          </a:prstGeom>
          <a:noFill/>
          <a:ln/>
        </p:spPr>
        <p:txBody>
          <a:bodyPr wrap="square" lIns="0" tIns="0" rIns="0" bIns="0" rtlCol="0" anchor="ctr"/>
          <a:lstStyle/>
          <a:p>
            <a:pPr indent="0" marL="0">
              <a:buNone/>
            </a:pPr>
            <a:r>
              <a:rPr lang="en-US" sz="1300" dirty="0">
                <a:solidFill>
                  <a:schemeClr val="tx1"/>
                </a:solidFill>
              </a:rPr>
              <a:t>Diseño de casos de prueba</a:t>
            </a:r>
            <a:endParaRPr lang="en-US" sz="1300" dirty="0"/>
          </a:p>
        </p:txBody>
      </p:sp>
      <p:sp>
        <p:nvSpPr>
          <p:cNvPr id="29" name="Shape 27"/>
          <p:cNvSpPr/>
          <p:nvPr/>
        </p:nvSpPr>
        <p:spPr>
          <a:xfrm>
            <a:off x="5239512" y="2734056"/>
            <a:ext cx="798576" cy="219456"/>
          </a:xfrm>
          <a:prstGeom prst="roundRect">
            <a:avLst>
              <a:gd name="adj" fmla="val 20833"/>
            </a:avLst>
          </a:prstGeom>
          <a:solidFill>
            <a:srgbClr val="A7BEAE"/>
          </a:solidFill>
          <a:ln w="12700">
            <a:solidFill>
              <a:srgbClr val="A7BEAE"/>
            </a:solidFill>
            <a:prstDash val="solid"/>
          </a:ln>
        </p:spPr>
      </p:sp>
      <p:sp>
        <p:nvSpPr>
          <p:cNvPr id="30" name="Text 28"/>
          <p:cNvSpPr txBox="1"/>
          <p:nvPr/>
        </p:nvSpPr>
        <p:spPr>
          <a:xfrm>
            <a:off x="640080" y="3072384"/>
            <a:ext cx="3200400" cy="310896"/>
          </a:xfrm>
          <a:prstGeom prst="rect">
            <a:avLst/>
          </a:prstGeom>
          <a:noFill/>
          <a:ln/>
        </p:spPr>
        <p:txBody>
          <a:bodyPr wrap="square" lIns="0" tIns="0" rIns="0" bIns="0" rtlCol="0" anchor="ctr"/>
          <a:lstStyle/>
          <a:p>
            <a:pPr indent="0" marL="0">
              <a:buNone/>
            </a:pPr>
            <a:r>
              <a:rPr lang="en-US" sz="1300" dirty="0">
                <a:solidFill>
                  <a:schemeClr val="tx1"/>
                </a:solidFill>
              </a:rPr>
              <a:t>Entorno y repositorio</a:t>
            </a:r>
            <a:endParaRPr lang="en-US" sz="1300" dirty="0"/>
          </a:p>
        </p:txBody>
      </p:sp>
      <p:sp>
        <p:nvSpPr>
          <p:cNvPr id="31" name="Shape 29"/>
          <p:cNvSpPr/>
          <p:nvPr/>
        </p:nvSpPr>
        <p:spPr>
          <a:xfrm>
            <a:off x="5666232" y="3118104"/>
            <a:ext cx="371856" cy="219456"/>
          </a:xfrm>
          <a:prstGeom prst="roundRect">
            <a:avLst>
              <a:gd name="adj" fmla="val 20833"/>
            </a:avLst>
          </a:prstGeom>
          <a:solidFill>
            <a:srgbClr val="A7BEAE"/>
          </a:solidFill>
          <a:ln w="12700">
            <a:solidFill>
              <a:srgbClr val="A7BEAE"/>
            </a:solidFill>
            <a:prstDash val="solid"/>
          </a:ln>
        </p:spPr>
      </p:sp>
      <p:sp>
        <p:nvSpPr>
          <p:cNvPr id="32" name="Shape 30"/>
          <p:cNvSpPr/>
          <p:nvPr/>
        </p:nvSpPr>
        <p:spPr>
          <a:xfrm>
            <a:off x="548640" y="3419856"/>
            <a:ext cx="11064240" cy="384048"/>
          </a:xfrm>
          <a:prstGeom prst="rect">
            <a:avLst/>
          </a:prstGeom>
          <a:solidFill>
            <a:srgbClr val="F7F7F2"/>
          </a:solidFill>
          <a:ln w="12700">
            <a:solidFill>
              <a:srgbClr val="F7F7F2"/>
            </a:solidFill>
            <a:prstDash val="solid"/>
          </a:ln>
        </p:spPr>
      </p:sp>
      <p:sp>
        <p:nvSpPr>
          <p:cNvPr id="33" name="Text 31"/>
          <p:cNvSpPr txBox="1"/>
          <p:nvPr/>
        </p:nvSpPr>
        <p:spPr>
          <a:xfrm>
            <a:off x="640080" y="3456432"/>
            <a:ext cx="3200400" cy="310896"/>
          </a:xfrm>
          <a:prstGeom prst="rect">
            <a:avLst/>
          </a:prstGeom>
          <a:noFill/>
          <a:ln/>
        </p:spPr>
        <p:txBody>
          <a:bodyPr wrap="square" lIns="0" tIns="0" rIns="0" bIns="0" rtlCol="0" anchor="ctr"/>
          <a:lstStyle/>
          <a:p>
            <a:pPr indent="0" marL="0">
              <a:buNone/>
            </a:pPr>
            <a:r>
              <a:rPr lang="en-US" sz="1300" dirty="0">
                <a:solidFill>
                  <a:schemeClr val="tx1"/>
                </a:solidFill>
              </a:rPr>
              <a:t>Implementación del modelo</a:t>
            </a:r>
            <a:endParaRPr lang="en-US" sz="1300" dirty="0"/>
          </a:p>
        </p:txBody>
      </p:sp>
      <p:sp>
        <p:nvSpPr>
          <p:cNvPr id="34" name="Shape 32"/>
          <p:cNvSpPr/>
          <p:nvPr/>
        </p:nvSpPr>
        <p:spPr>
          <a:xfrm>
            <a:off x="5666232" y="3502152"/>
            <a:ext cx="798576" cy="219456"/>
          </a:xfrm>
          <a:prstGeom prst="roundRect">
            <a:avLst>
              <a:gd name="adj" fmla="val 20833"/>
            </a:avLst>
          </a:prstGeom>
          <a:solidFill>
            <a:srgbClr val="B85042"/>
          </a:solidFill>
          <a:ln w="12700">
            <a:solidFill>
              <a:srgbClr val="B85042"/>
            </a:solidFill>
            <a:prstDash val="solid"/>
          </a:ln>
        </p:spPr>
      </p:sp>
      <p:sp>
        <p:nvSpPr>
          <p:cNvPr id="35" name="Text 33"/>
          <p:cNvSpPr txBox="1"/>
          <p:nvPr/>
        </p:nvSpPr>
        <p:spPr>
          <a:xfrm>
            <a:off x="640080" y="3840480"/>
            <a:ext cx="3200400" cy="310896"/>
          </a:xfrm>
          <a:prstGeom prst="rect">
            <a:avLst/>
          </a:prstGeom>
          <a:noFill/>
          <a:ln/>
        </p:spPr>
        <p:txBody>
          <a:bodyPr wrap="square" lIns="0" tIns="0" rIns="0" bIns="0" rtlCol="0" anchor="ctr"/>
          <a:lstStyle/>
          <a:p>
            <a:pPr indent="0" marL="0">
              <a:buNone/>
            </a:pPr>
            <a:r>
              <a:rPr lang="en-US" sz="1300" dirty="0">
                <a:solidFill>
                  <a:schemeClr val="tx1"/>
                </a:solidFill>
              </a:rPr>
              <a:t>Núcleo del sistema</a:t>
            </a:r>
            <a:endParaRPr lang="en-US" sz="1300" dirty="0"/>
          </a:p>
        </p:txBody>
      </p:sp>
      <p:sp>
        <p:nvSpPr>
          <p:cNvPr id="36" name="Shape 34"/>
          <p:cNvSpPr/>
          <p:nvPr/>
        </p:nvSpPr>
        <p:spPr>
          <a:xfrm>
            <a:off x="6092952" y="3886200"/>
            <a:ext cx="2078736" cy="219456"/>
          </a:xfrm>
          <a:prstGeom prst="roundRect">
            <a:avLst>
              <a:gd name="adj" fmla="val 20833"/>
            </a:avLst>
          </a:prstGeom>
          <a:solidFill>
            <a:srgbClr val="D9A441"/>
          </a:solidFill>
          <a:ln w="12700">
            <a:solidFill>
              <a:srgbClr val="D9A441"/>
            </a:solidFill>
            <a:prstDash val="solid"/>
          </a:ln>
        </p:spPr>
      </p:sp>
      <p:sp>
        <p:nvSpPr>
          <p:cNvPr id="37" name="Shape 35"/>
          <p:cNvSpPr/>
          <p:nvPr/>
        </p:nvSpPr>
        <p:spPr>
          <a:xfrm>
            <a:off x="548640" y="4187952"/>
            <a:ext cx="11064240" cy="384048"/>
          </a:xfrm>
          <a:prstGeom prst="rect">
            <a:avLst/>
          </a:prstGeom>
          <a:solidFill>
            <a:srgbClr val="F7F7F2"/>
          </a:solidFill>
          <a:ln w="12700">
            <a:solidFill>
              <a:srgbClr val="F7F7F2"/>
            </a:solidFill>
            <a:prstDash val="solid"/>
          </a:ln>
        </p:spPr>
      </p:sp>
      <p:sp>
        <p:nvSpPr>
          <p:cNvPr id="38" name="Text 36"/>
          <p:cNvSpPr txBox="1"/>
          <p:nvPr/>
        </p:nvSpPr>
        <p:spPr>
          <a:xfrm>
            <a:off x="640080" y="4224528"/>
            <a:ext cx="3200400" cy="310896"/>
          </a:xfrm>
          <a:prstGeom prst="rect">
            <a:avLst/>
          </a:prstGeom>
          <a:noFill/>
          <a:ln/>
        </p:spPr>
        <p:txBody>
          <a:bodyPr wrap="square" lIns="0" tIns="0" rIns="0" bIns="0" rtlCol="0" anchor="ctr"/>
          <a:lstStyle/>
          <a:p>
            <a:pPr indent="0" marL="0">
              <a:buNone/>
            </a:pPr>
            <a:r>
              <a:rPr lang="en-US" sz="1300" dirty="0">
                <a:solidFill>
                  <a:schemeClr val="tx1"/>
                </a:solidFill>
              </a:rPr>
              <a:t>Módulos de operaciones</a:t>
            </a:r>
            <a:endParaRPr lang="en-US" sz="1300" dirty="0"/>
          </a:p>
        </p:txBody>
      </p:sp>
      <p:sp>
        <p:nvSpPr>
          <p:cNvPr id="39" name="Shape 37"/>
          <p:cNvSpPr/>
          <p:nvPr/>
        </p:nvSpPr>
        <p:spPr>
          <a:xfrm>
            <a:off x="7799832" y="4270248"/>
            <a:ext cx="2078736" cy="219456"/>
          </a:xfrm>
          <a:prstGeom prst="roundRect">
            <a:avLst>
              <a:gd name="adj" fmla="val 20833"/>
            </a:avLst>
          </a:prstGeom>
          <a:solidFill>
            <a:srgbClr val="D7D9C8"/>
          </a:solidFill>
          <a:ln w="12700">
            <a:solidFill>
              <a:srgbClr val="D7D9C8"/>
            </a:solidFill>
            <a:prstDash val="solid"/>
          </a:ln>
        </p:spPr>
      </p:sp>
      <p:sp>
        <p:nvSpPr>
          <p:cNvPr id="40" name="Text 38"/>
          <p:cNvSpPr txBox="1"/>
          <p:nvPr/>
        </p:nvSpPr>
        <p:spPr>
          <a:xfrm>
            <a:off x="640080" y="4608576"/>
            <a:ext cx="3200400" cy="310896"/>
          </a:xfrm>
          <a:prstGeom prst="rect">
            <a:avLst/>
          </a:prstGeom>
          <a:noFill/>
          <a:ln/>
        </p:spPr>
        <p:txBody>
          <a:bodyPr wrap="square" lIns="0" tIns="0" rIns="0" bIns="0" rtlCol="0" anchor="ctr"/>
          <a:lstStyle/>
          <a:p>
            <a:pPr indent="0" marL="0">
              <a:buNone/>
            </a:pPr>
            <a:r>
              <a:rPr lang="en-US" sz="1300" dirty="0">
                <a:solidFill>
                  <a:schemeClr val="tx1"/>
                </a:solidFill>
              </a:rPr>
              <a:t>Panel de indicadores</a:t>
            </a:r>
            <a:endParaRPr lang="en-US" sz="1300" dirty="0"/>
          </a:p>
        </p:txBody>
      </p:sp>
      <p:sp>
        <p:nvSpPr>
          <p:cNvPr id="41" name="Shape 39"/>
          <p:cNvSpPr/>
          <p:nvPr/>
        </p:nvSpPr>
        <p:spPr>
          <a:xfrm>
            <a:off x="9079992" y="4654296"/>
            <a:ext cx="1225296" cy="219456"/>
          </a:xfrm>
          <a:prstGeom prst="roundRect">
            <a:avLst>
              <a:gd name="adj" fmla="val 20833"/>
            </a:avLst>
          </a:prstGeom>
          <a:solidFill>
            <a:srgbClr val="D7D9C8"/>
          </a:solidFill>
          <a:ln w="12700">
            <a:solidFill>
              <a:srgbClr val="D7D9C8"/>
            </a:solidFill>
            <a:prstDash val="solid"/>
          </a:ln>
        </p:spPr>
      </p:sp>
      <p:sp>
        <p:nvSpPr>
          <p:cNvPr id="42" name="Shape 40"/>
          <p:cNvSpPr/>
          <p:nvPr/>
        </p:nvSpPr>
        <p:spPr>
          <a:xfrm>
            <a:off x="548640" y="4956048"/>
            <a:ext cx="11064240" cy="384048"/>
          </a:xfrm>
          <a:prstGeom prst="rect">
            <a:avLst/>
          </a:prstGeom>
          <a:solidFill>
            <a:srgbClr val="F7F7F2"/>
          </a:solidFill>
          <a:ln w="12700">
            <a:solidFill>
              <a:srgbClr val="F7F7F2"/>
            </a:solidFill>
            <a:prstDash val="solid"/>
          </a:ln>
        </p:spPr>
      </p:sp>
      <p:sp>
        <p:nvSpPr>
          <p:cNvPr id="43" name="Text 41"/>
          <p:cNvSpPr txBox="1"/>
          <p:nvPr/>
        </p:nvSpPr>
        <p:spPr>
          <a:xfrm>
            <a:off x="640080" y="4992624"/>
            <a:ext cx="3200400" cy="310896"/>
          </a:xfrm>
          <a:prstGeom prst="rect">
            <a:avLst/>
          </a:prstGeom>
          <a:noFill/>
          <a:ln/>
        </p:spPr>
        <p:txBody>
          <a:bodyPr wrap="square" lIns="0" tIns="0" rIns="0" bIns="0" rtlCol="0" anchor="ctr"/>
          <a:lstStyle/>
          <a:p>
            <a:pPr indent="0" marL="0">
              <a:buNone/>
            </a:pPr>
            <a:r>
              <a:rPr lang="en-US" sz="1300" dirty="0">
                <a:solidFill>
                  <a:schemeClr val="tx1"/>
                </a:solidFill>
              </a:rPr>
              <a:t>Implantación con Docker</a:t>
            </a:r>
            <a:endParaRPr lang="en-US" sz="1300" dirty="0"/>
          </a:p>
        </p:txBody>
      </p:sp>
      <p:sp>
        <p:nvSpPr>
          <p:cNvPr id="44" name="Shape 42"/>
          <p:cNvSpPr/>
          <p:nvPr/>
        </p:nvSpPr>
        <p:spPr>
          <a:xfrm>
            <a:off x="10360152" y="5038344"/>
            <a:ext cx="371856" cy="219456"/>
          </a:xfrm>
          <a:prstGeom prst="roundRect">
            <a:avLst>
              <a:gd name="adj" fmla="val 20833"/>
            </a:avLst>
          </a:prstGeom>
          <a:solidFill>
            <a:srgbClr val="D7D9C8"/>
          </a:solidFill>
          <a:ln w="12700">
            <a:solidFill>
              <a:srgbClr val="D7D9C8"/>
            </a:solidFill>
            <a:prstDash val="solid"/>
          </a:ln>
        </p:spPr>
      </p:sp>
      <p:sp>
        <p:nvSpPr>
          <p:cNvPr id="45" name="Text 43"/>
          <p:cNvSpPr txBox="1"/>
          <p:nvPr/>
        </p:nvSpPr>
        <p:spPr>
          <a:xfrm>
            <a:off x="640080" y="5376672"/>
            <a:ext cx="3200400" cy="310896"/>
          </a:xfrm>
          <a:prstGeom prst="rect">
            <a:avLst/>
          </a:prstGeom>
          <a:noFill/>
          <a:ln/>
        </p:spPr>
        <p:txBody>
          <a:bodyPr wrap="square" lIns="0" tIns="0" rIns="0" bIns="0" rtlCol="0" anchor="ctr"/>
          <a:lstStyle/>
          <a:p>
            <a:pPr indent="0" marL="0">
              <a:buNone/>
            </a:pPr>
            <a:r>
              <a:rPr lang="en-US" sz="1300" dirty="0">
                <a:solidFill>
                  <a:schemeClr val="tx1"/>
                </a:solidFill>
              </a:rPr>
              <a:t>Informe final y presentación</a:t>
            </a:r>
            <a:endParaRPr lang="en-US" sz="1300" dirty="0"/>
          </a:p>
        </p:txBody>
      </p:sp>
      <p:sp>
        <p:nvSpPr>
          <p:cNvPr id="46" name="Shape 44"/>
          <p:cNvSpPr/>
          <p:nvPr/>
        </p:nvSpPr>
        <p:spPr>
          <a:xfrm>
            <a:off x="10360152" y="5422392"/>
            <a:ext cx="1225296" cy="219456"/>
          </a:xfrm>
          <a:prstGeom prst="roundRect">
            <a:avLst>
              <a:gd name="adj" fmla="val 20833"/>
            </a:avLst>
          </a:prstGeom>
          <a:solidFill>
            <a:srgbClr val="D7D9C8"/>
          </a:solidFill>
          <a:ln w="12700">
            <a:solidFill>
              <a:srgbClr val="D7D9C8"/>
            </a:solidFill>
            <a:prstDash val="solid"/>
          </a:ln>
        </p:spPr>
      </p:sp>
      <p:sp>
        <p:nvSpPr>
          <p:cNvPr id="47" name="Shape 45"/>
          <p:cNvSpPr/>
          <p:nvPr/>
        </p:nvSpPr>
        <p:spPr>
          <a:xfrm>
            <a:off x="7345680" y="1783080"/>
            <a:ext cx="0" cy="3931920"/>
          </a:xfrm>
          <a:prstGeom prst="line">
            <a:avLst/>
          </a:prstGeom>
          <a:noFill/>
          <a:ln w="19050">
            <a:solidFill>
              <a:schemeClr val="tx2"/>
            </a:solidFill>
            <a:prstDash val="dash"/>
          </a:ln>
        </p:spPr>
      </p:sp>
      <p:sp>
        <p:nvSpPr>
          <p:cNvPr id="48" name="Text 46"/>
          <p:cNvSpPr txBox="1"/>
          <p:nvPr/>
        </p:nvSpPr>
        <p:spPr>
          <a:xfrm>
            <a:off x="6797040" y="5779008"/>
            <a:ext cx="1097280" cy="274320"/>
          </a:xfrm>
          <a:prstGeom prst="rect">
            <a:avLst/>
          </a:prstGeom>
          <a:noFill/>
          <a:ln/>
        </p:spPr>
        <p:txBody>
          <a:bodyPr wrap="square" lIns="0" tIns="0" rIns="0" bIns="0" rtlCol="0" anchor="ctr"/>
          <a:lstStyle/>
          <a:p>
            <a:pPr algn="ctr" indent="0" marL="0">
              <a:buNone/>
            </a:pPr>
            <a:r>
              <a:rPr lang="en-US" sz="1100" b="1" dirty="0">
                <a:solidFill>
                  <a:schemeClr val="tx2"/>
                </a:solidFill>
              </a:rPr>
              <a:t>Semana 8</a:t>
            </a:r>
            <a:endParaRPr lang="en-US" sz="1100" dirty="0"/>
          </a:p>
        </p:txBody>
      </p:sp>
      <p:sp>
        <p:nvSpPr>
          <p:cNvPr id="49" name="Shape 47"/>
          <p:cNvSpPr/>
          <p:nvPr/>
        </p:nvSpPr>
        <p:spPr>
          <a:xfrm>
            <a:off x="640080" y="6126480"/>
            <a:ext cx="320040" cy="201168"/>
          </a:xfrm>
          <a:prstGeom prst="roundRect">
            <a:avLst>
              <a:gd name="adj" fmla="val 18182"/>
            </a:avLst>
          </a:prstGeom>
          <a:solidFill>
            <a:srgbClr val="A7BEAE"/>
          </a:solidFill>
          <a:ln w="12700">
            <a:solidFill>
              <a:srgbClr val="A7BEAE"/>
            </a:solidFill>
            <a:prstDash val="solid"/>
          </a:ln>
        </p:spPr>
      </p:sp>
      <p:sp>
        <p:nvSpPr>
          <p:cNvPr id="50" name="Text 48"/>
          <p:cNvSpPr txBox="1"/>
          <p:nvPr/>
        </p:nvSpPr>
        <p:spPr>
          <a:xfrm>
            <a:off x="1051560" y="6080760"/>
            <a:ext cx="2286000" cy="292608"/>
          </a:xfrm>
          <a:prstGeom prst="rect">
            <a:avLst/>
          </a:prstGeom>
          <a:noFill/>
          <a:ln/>
        </p:spPr>
        <p:txBody>
          <a:bodyPr wrap="square" lIns="0" tIns="0" rIns="0" bIns="0" rtlCol="0" anchor="ctr"/>
          <a:lstStyle/>
          <a:p>
            <a:pPr indent="0" marL="0">
              <a:buNone/>
            </a:pPr>
            <a:r>
              <a:rPr lang="en-US" sz="1200" dirty="0">
                <a:solidFill>
                  <a:schemeClr val="accent4"/>
                </a:solidFill>
              </a:rPr>
              <a:t>Completado</a:t>
            </a:r>
            <a:endParaRPr lang="en-US" sz="1200" dirty="0"/>
          </a:p>
        </p:txBody>
      </p:sp>
      <p:sp>
        <p:nvSpPr>
          <p:cNvPr id="51" name="Shape 49"/>
          <p:cNvSpPr/>
          <p:nvPr/>
        </p:nvSpPr>
        <p:spPr>
          <a:xfrm>
            <a:off x="3383280" y="6126480"/>
            <a:ext cx="320040" cy="201168"/>
          </a:xfrm>
          <a:prstGeom prst="roundRect">
            <a:avLst>
              <a:gd name="adj" fmla="val 18182"/>
            </a:avLst>
          </a:prstGeom>
          <a:solidFill>
            <a:srgbClr val="B85042"/>
          </a:solidFill>
          <a:ln w="12700">
            <a:solidFill>
              <a:srgbClr val="B85042"/>
            </a:solidFill>
            <a:prstDash val="solid"/>
          </a:ln>
        </p:spPr>
      </p:sp>
      <p:sp>
        <p:nvSpPr>
          <p:cNvPr id="52" name="Text 50"/>
          <p:cNvSpPr txBox="1"/>
          <p:nvPr/>
        </p:nvSpPr>
        <p:spPr>
          <a:xfrm>
            <a:off x="3794760" y="6080760"/>
            <a:ext cx="2286000" cy="292608"/>
          </a:xfrm>
          <a:prstGeom prst="rect">
            <a:avLst/>
          </a:prstGeom>
          <a:noFill/>
          <a:ln/>
        </p:spPr>
        <p:txBody>
          <a:bodyPr wrap="square" lIns="0" tIns="0" rIns="0" bIns="0" rtlCol="0" anchor="ctr"/>
          <a:lstStyle/>
          <a:p>
            <a:pPr indent="0" marL="0">
              <a:buNone/>
            </a:pPr>
            <a:r>
              <a:rPr lang="en-US" sz="1200" dirty="0">
                <a:solidFill>
                  <a:schemeClr val="accent4"/>
                </a:solidFill>
              </a:rPr>
              <a:t>Completado con retraso</a:t>
            </a:r>
            <a:endParaRPr lang="en-US" sz="1200" dirty="0"/>
          </a:p>
        </p:txBody>
      </p:sp>
      <p:sp>
        <p:nvSpPr>
          <p:cNvPr id="53" name="Shape 51"/>
          <p:cNvSpPr/>
          <p:nvPr/>
        </p:nvSpPr>
        <p:spPr>
          <a:xfrm>
            <a:off x="6126480" y="6126480"/>
            <a:ext cx="320040" cy="201168"/>
          </a:xfrm>
          <a:prstGeom prst="roundRect">
            <a:avLst>
              <a:gd name="adj" fmla="val 18182"/>
            </a:avLst>
          </a:prstGeom>
          <a:solidFill>
            <a:srgbClr val="D9A441"/>
          </a:solidFill>
          <a:ln w="12700">
            <a:solidFill>
              <a:srgbClr val="D9A441"/>
            </a:solidFill>
            <a:prstDash val="solid"/>
          </a:ln>
        </p:spPr>
      </p:sp>
      <p:sp>
        <p:nvSpPr>
          <p:cNvPr id="54" name="Text 52"/>
          <p:cNvSpPr txBox="1"/>
          <p:nvPr/>
        </p:nvSpPr>
        <p:spPr>
          <a:xfrm>
            <a:off x="6537960" y="6080760"/>
            <a:ext cx="2286000" cy="292608"/>
          </a:xfrm>
          <a:prstGeom prst="rect">
            <a:avLst/>
          </a:prstGeom>
          <a:noFill/>
          <a:ln/>
        </p:spPr>
        <p:txBody>
          <a:bodyPr wrap="square" lIns="0" tIns="0" rIns="0" bIns="0" rtlCol="0" anchor="ctr"/>
          <a:lstStyle/>
          <a:p>
            <a:pPr indent="0" marL="0">
              <a:buNone/>
            </a:pPr>
            <a:r>
              <a:rPr lang="en-US" sz="1200" dirty="0">
                <a:solidFill>
                  <a:schemeClr val="accent4"/>
                </a:solidFill>
              </a:rPr>
              <a:t>En curso</a:t>
            </a:r>
            <a:endParaRPr lang="en-US" sz="1200" dirty="0"/>
          </a:p>
        </p:txBody>
      </p:sp>
      <p:sp>
        <p:nvSpPr>
          <p:cNvPr id="55" name="Shape 53"/>
          <p:cNvSpPr/>
          <p:nvPr/>
        </p:nvSpPr>
        <p:spPr>
          <a:xfrm>
            <a:off x="8869680" y="6126480"/>
            <a:ext cx="320040" cy="201168"/>
          </a:xfrm>
          <a:prstGeom prst="roundRect">
            <a:avLst>
              <a:gd name="adj" fmla="val 18182"/>
            </a:avLst>
          </a:prstGeom>
          <a:solidFill>
            <a:srgbClr val="D7D9C8"/>
          </a:solidFill>
          <a:ln w="12700">
            <a:solidFill>
              <a:srgbClr val="D7D9C8"/>
            </a:solidFill>
            <a:prstDash val="solid"/>
          </a:ln>
        </p:spPr>
      </p:sp>
      <p:sp>
        <p:nvSpPr>
          <p:cNvPr id="56" name="Text 54"/>
          <p:cNvSpPr txBox="1"/>
          <p:nvPr/>
        </p:nvSpPr>
        <p:spPr>
          <a:xfrm>
            <a:off x="9281160" y="6080760"/>
            <a:ext cx="2286000" cy="292608"/>
          </a:xfrm>
          <a:prstGeom prst="rect">
            <a:avLst/>
          </a:prstGeom>
          <a:noFill/>
          <a:ln/>
        </p:spPr>
        <p:txBody>
          <a:bodyPr wrap="square" lIns="0" tIns="0" rIns="0" bIns="0" rtlCol="0" anchor="ctr"/>
          <a:lstStyle/>
          <a:p>
            <a:pPr indent="0" marL="0">
              <a:buNone/>
            </a:pPr>
            <a:r>
              <a:rPr lang="en-US" sz="1200" dirty="0">
                <a:solidFill>
                  <a:schemeClr val="accent4"/>
                </a:solidFill>
              </a:rPr>
              <a:t>No iniciado, dentro de plazo</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40080"/>
          </a:xfrm>
          <a:prstGeom prst="rect">
            <a:avLst/>
          </a:prstGeom>
          <a:noFill/>
          <a:ln/>
        </p:spPr>
        <p:txBody>
          <a:bodyPr wrap="square" rtlCol="0" anchor="ctr"/>
          <a:lstStyle/>
          <a:p>
            <a:pPr algn="l" indent="0" marL="0">
              <a:buNone/>
            </a:pPr>
            <a:r>
              <a:rPr lang="en-US" sz="3200" b="1" dirty="0">
                <a:solidFill>
                  <a:schemeClr val="tx2"/>
                </a:solidFill>
              </a:rPr>
              <a:t>Avance en cifras</a:t>
            </a:r>
            <a:endParaRPr lang="en-US" sz="3200" dirty="0"/>
          </a:p>
        </p:txBody>
      </p:sp>
      <p:sp>
        <p:nvSpPr>
          <p:cNvPr id="3" name="Text 0"/>
          <p:cNvSpPr/>
          <p:nvPr>
            <p:ph idx="101" type="body" hasCustomPrompt="1"/>
          </p:nvPr>
        </p:nvSpPr>
        <p:spPr>
          <a:xfrm>
            <a:off x="548640" y="960120"/>
            <a:ext cx="11064240" cy="411480"/>
          </a:xfrm>
          <a:prstGeom prst="rect">
            <a:avLst/>
          </a:prstGeom>
          <a:noFill/>
          <a:ln/>
        </p:spPr>
        <p:txBody>
          <a:bodyPr wrap="square" rtlCol="0" anchor="t"/>
          <a:lstStyle/>
          <a:p>
            <a:pPr algn="l" indent="0" marL="0">
              <a:buNone/>
            </a:pPr>
            <a:r>
              <a:rPr lang="en-US" sz="1500" i="1" dirty="0">
                <a:solidFill>
                  <a:schemeClr val="accent4"/>
                </a:solidFill>
              </a:rPr>
              <a:t>Todo verificable en el repositorio github.com/gonzaloarenasduoc/Mira</a:t>
            </a:r>
            <a:endParaRPr lang="en-US" sz="1500" dirty="0"/>
          </a:p>
        </p:txBody>
      </p:sp>
      <p:sp>
        <p:nvSpPr>
          <p:cNvPr id="4" name="cifra-1"/>
          <p:cNvSpPr/>
          <p:nvPr/>
        </p:nvSpPr>
        <p:spPr>
          <a:xfrm>
            <a:off x="548640" y="1691640"/>
            <a:ext cx="2560320" cy="2468880"/>
          </a:xfrm>
          <a:prstGeom prst="roundRect">
            <a:avLst>
              <a:gd name="adj" fmla="val 2963"/>
            </a:avLst>
          </a:prstGeom>
          <a:solidFill>
            <a:srgbClr val="2E3A3F"/>
          </a:solidFill>
          <a:ln w="12700">
            <a:solidFill>
              <a:srgbClr val="2E3A3F"/>
            </a:solidFill>
            <a:prstDash val="solid"/>
          </a:ln>
        </p:spPr>
      </p:sp>
      <p:sp>
        <p:nvSpPr>
          <p:cNvPr id="5" name="Text 3"/>
          <p:cNvSpPr txBox="1"/>
          <p:nvPr/>
        </p:nvSpPr>
        <p:spPr>
          <a:xfrm>
            <a:off x="731520" y="1874520"/>
            <a:ext cx="2194560" cy="914400"/>
          </a:xfrm>
          <a:prstGeom prst="rect">
            <a:avLst/>
          </a:prstGeom>
          <a:noFill/>
          <a:ln/>
        </p:spPr>
        <p:txBody>
          <a:bodyPr wrap="square" lIns="0" tIns="0" rIns="0" bIns="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8 de 28</a:t>
            </a:r>
            <a:endParaRPr lang="en-US" sz="4000" dirty="0"/>
          </a:p>
        </p:txBody>
      </p:sp>
      <p:sp>
        <p:nvSpPr>
          <p:cNvPr id="6" name="Text 4"/>
          <p:cNvSpPr txBox="1"/>
          <p:nvPr/>
        </p:nvSpPr>
        <p:spPr>
          <a:xfrm>
            <a:off x="731520" y="2834640"/>
            <a:ext cx="2194560" cy="365760"/>
          </a:xfrm>
          <a:prstGeom prst="rect">
            <a:avLst/>
          </a:prstGeom>
          <a:noFill/>
          <a:ln/>
        </p:spPr>
        <p:txBody>
          <a:bodyPr wrap="square" lIns="0" tIns="0" rIns="0" bIns="0" rtlCol="0" anchor="ctr"/>
          <a:lstStyle/>
          <a:p>
            <a:pPr algn="ctr" indent="0" marL="0">
              <a:buNone/>
            </a:pPr>
            <a:r>
              <a:rPr lang="en-US" sz="1600" b="1" dirty="0">
                <a:solidFill>
                  <a:schemeClr val="accent6"/>
                </a:solidFill>
              </a:rPr>
              <a:t>historias terminadas</a:t>
            </a:r>
            <a:endParaRPr lang="en-US" sz="1600" dirty="0"/>
          </a:p>
        </p:txBody>
      </p:sp>
      <p:sp>
        <p:nvSpPr>
          <p:cNvPr id="7" name="Text 5"/>
          <p:cNvSpPr txBox="1"/>
          <p:nvPr/>
        </p:nvSpPr>
        <p:spPr>
          <a:xfrm>
            <a:off x="731520" y="3200400"/>
            <a:ext cx="2194560" cy="822960"/>
          </a:xfrm>
          <a:prstGeom prst="rect">
            <a:avLst/>
          </a:prstGeom>
          <a:noFill/>
          <a:ln/>
        </p:spPr>
        <p:txBody>
          <a:bodyPr wrap="square" lIns="0" tIns="0" rIns="0" bIns="0" rtlCol="0" anchor="t"/>
          <a:lstStyle/>
          <a:p>
            <a:pPr algn="ctr" indent="0" marL="0">
              <a:buNone/>
            </a:pPr>
            <a:r>
              <a:rPr lang="en-US" sz="1200" dirty="0">
                <a:solidFill>
                  <a:schemeClr val="accent5"/>
                </a:solidFill>
              </a:rPr>
              <a:t>24 de 100 puntos de función: Sprint 2 completo</a:t>
            </a:r>
            <a:endParaRPr lang="en-US" sz="1200" dirty="0"/>
          </a:p>
        </p:txBody>
      </p:sp>
      <p:sp>
        <p:nvSpPr>
          <p:cNvPr id="8" name="cifra-2"/>
          <p:cNvSpPr/>
          <p:nvPr/>
        </p:nvSpPr>
        <p:spPr>
          <a:xfrm>
            <a:off x="3383280" y="1691640"/>
            <a:ext cx="2560320" cy="2468880"/>
          </a:xfrm>
          <a:prstGeom prst="roundRect">
            <a:avLst>
              <a:gd name="adj" fmla="val 2963"/>
            </a:avLst>
          </a:prstGeom>
          <a:solidFill>
            <a:srgbClr val="E7E8D1"/>
          </a:solidFill>
          <a:ln w="12700">
            <a:solidFill>
              <a:srgbClr val="E7E8D1"/>
            </a:solidFill>
            <a:prstDash val="solid"/>
          </a:ln>
        </p:spPr>
      </p:sp>
      <p:sp>
        <p:nvSpPr>
          <p:cNvPr id="9" name="Text 7"/>
          <p:cNvSpPr txBox="1"/>
          <p:nvPr/>
        </p:nvSpPr>
        <p:spPr>
          <a:xfrm>
            <a:off x="3566160" y="1874520"/>
            <a:ext cx="219456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14</a:t>
            </a:r>
            <a:endParaRPr lang="en-US" sz="5400" dirty="0"/>
          </a:p>
        </p:txBody>
      </p:sp>
      <p:sp>
        <p:nvSpPr>
          <p:cNvPr id="10" name="Text 8"/>
          <p:cNvSpPr txBox="1"/>
          <p:nvPr/>
        </p:nvSpPr>
        <p:spPr>
          <a:xfrm>
            <a:off x="3566160" y="2834640"/>
            <a:ext cx="2194560" cy="365760"/>
          </a:xfrm>
          <a:prstGeom prst="rect">
            <a:avLst/>
          </a:prstGeom>
          <a:noFill/>
          <a:ln/>
        </p:spPr>
        <p:txBody>
          <a:bodyPr wrap="square" lIns="0" tIns="0" rIns="0" bIns="0" rtlCol="0" anchor="ctr"/>
          <a:lstStyle/>
          <a:p>
            <a:pPr algn="ctr" indent="0" marL="0">
              <a:buNone/>
            </a:pPr>
            <a:r>
              <a:rPr lang="en-US" sz="1600" b="1" dirty="0">
                <a:solidFill>
                  <a:schemeClr val="tx2"/>
                </a:solidFill>
              </a:rPr>
              <a:t>tablas en PostgreSQL</a:t>
            </a:r>
            <a:endParaRPr lang="en-US" sz="1600" dirty="0"/>
          </a:p>
        </p:txBody>
      </p:sp>
      <p:sp>
        <p:nvSpPr>
          <p:cNvPr id="11" name="Text 9"/>
          <p:cNvSpPr txBox="1"/>
          <p:nvPr/>
        </p:nvSpPr>
        <p:spPr>
          <a:xfrm>
            <a:off x="3566160" y="3200400"/>
            <a:ext cx="2194560" cy="822960"/>
          </a:xfrm>
          <a:prstGeom prst="rect">
            <a:avLst/>
          </a:prstGeom>
          <a:noFill/>
          <a:ln/>
        </p:spPr>
        <p:txBody>
          <a:bodyPr wrap="square" lIns="0" tIns="0" rIns="0" bIns="0" rtlCol="0" anchor="t"/>
          <a:lstStyle/>
          <a:p>
            <a:pPr algn="ctr" indent="0" marL="0">
              <a:buNone/>
            </a:pPr>
            <a:r>
              <a:rPr lang="en-US" sz="1200" dirty="0">
                <a:solidFill>
                  <a:schemeClr val="accent4"/>
                </a:solidFill>
              </a:rPr>
              <a:t>Migraciones versionadas con Flyway, nunca editadas</a:t>
            </a:r>
            <a:endParaRPr lang="en-US" sz="1200" dirty="0"/>
          </a:p>
        </p:txBody>
      </p:sp>
      <p:sp>
        <p:nvSpPr>
          <p:cNvPr id="12" name="cifra-3"/>
          <p:cNvSpPr/>
          <p:nvPr/>
        </p:nvSpPr>
        <p:spPr>
          <a:xfrm>
            <a:off x="6217920" y="1691640"/>
            <a:ext cx="2560320" cy="2468880"/>
          </a:xfrm>
          <a:prstGeom prst="roundRect">
            <a:avLst>
              <a:gd name="adj" fmla="val 2963"/>
            </a:avLst>
          </a:prstGeom>
          <a:solidFill>
            <a:srgbClr val="E7E8D1"/>
          </a:solidFill>
          <a:ln w="12700">
            <a:solidFill>
              <a:srgbClr val="E7E8D1"/>
            </a:solidFill>
            <a:prstDash val="solid"/>
          </a:ln>
        </p:spPr>
      </p:sp>
      <p:sp>
        <p:nvSpPr>
          <p:cNvPr id="13" name="Text 11"/>
          <p:cNvSpPr txBox="1"/>
          <p:nvPr/>
        </p:nvSpPr>
        <p:spPr>
          <a:xfrm>
            <a:off x="6400800" y="1874520"/>
            <a:ext cx="219456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29</a:t>
            </a:r>
            <a:endParaRPr lang="en-US" sz="5400" dirty="0"/>
          </a:p>
        </p:txBody>
      </p:sp>
      <p:sp>
        <p:nvSpPr>
          <p:cNvPr id="14" name="Text 12"/>
          <p:cNvSpPr txBox="1"/>
          <p:nvPr/>
        </p:nvSpPr>
        <p:spPr>
          <a:xfrm>
            <a:off x="6400800" y="2834640"/>
            <a:ext cx="2194560" cy="365760"/>
          </a:xfrm>
          <a:prstGeom prst="rect">
            <a:avLst/>
          </a:prstGeom>
          <a:noFill/>
          <a:ln/>
        </p:spPr>
        <p:txBody>
          <a:bodyPr wrap="square" lIns="0" tIns="0" rIns="0" bIns="0" rtlCol="0" anchor="ctr"/>
          <a:lstStyle/>
          <a:p>
            <a:pPr algn="ctr" indent="0" marL="0">
              <a:buNone/>
            </a:pPr>
            <a:r>
              <a:rPr lang="en-US" sz="1600" b="1" dirty="0">
                <a:solidFill>
                  <a:schemeClr val="tx2"/>
                </a:solidFill>
              </a:rPr>
              <a:t>pruebas automatizadas</a:t>
            </a:r>
            <a:endParaRPr lang="en-US" sz="1600" dirty="0"/>
          </a:p>
        </p:txBody>
      </p:sp>
      <p:sp>
        <p:nvSpPr>
          <p:cNvPr id="15" name="Text 13"/>
          <p:cNvSpPr txBox="1"/>
          <p:nvPr/>
        </p:nvSpPr>
        <p:spPr>
          <a:xfrm>
            <a:off x="6400800" y="3200400"/>
            <a:ext cx="2194560" cy="822960"/>
          </a:xfrm>
          <a:prstGeom prst="rect">
            <a:avLst/>
          </a:prstGeom>
          <a:noFill/>
          <a:ln/>
        </p:spPr>
        <p:txBody>
          <a:bodyPr wrap="square" lIns="0" tIns="0" rIns="0" bIns="0" rtlCol="0" anchor="t"/>
          <a:lstStyle/>
          <a:p>
            <a:pPr algn="ctr" indent="0" marL="0">
              <a:buNone/>
            </a:pPr>
            <a:r>
              <a:rPr lang="en-US" sz="1200" dirty="0">
                <a:solidFill>
                  <a:schemeClr val="accent4"/>
                </a:solidFill>
              </a:rPr>
              <a:t>Reglas de negocio, permisos por rol y migraciones</a:t>
            </a:r>
            <a:endParaRPr lang="en-US" sz="1200" dirty="0"/>
          </a:p>
        </p:txBody>
      </p:sp>
      <p:sp>
        <p:nvSpPr>
          <p:cNvPr id="16" name="cifra-4"/>
          <p:cNvSpPr/>
          <p:nvPr/>
        </p:nvSpPr>
        <p:spPr>
          <a:xfrm>
            <a:off x="9052560" y="1691640"/>
            <a:ext cx="2560320" cy="2468880"/>
          </a:xfrm>
          <a:prstGeom prst="roundRect">
            <a:avLst>
              <a:gd name="adj" fmla="val 2963"/>
            </a:avLst>
          </a:prstGeom>
          <a:solidFill>
            <a:srgbClr val="E7E8D1"/>
          </a:solidFill>
          <a:ln w="12700">
            <a:solidFill>
              <a:srgbClr val="E7E8D1"/>
            </a:solidFill>
            <a:prstDash val="solid"/>
          </a:ln>
        </p:spPr>
      </p:sp>
      <p:sp>
        <p:nvSpPr>
          <p:cNvPr id="17" name="Text 15"/>
          <p:cNvSpPr txBox="1"/>
          <p:nvPr/>
        </p:nvSpPr>
        <p:spPr>
          <a:xfrm>
            <a:off x="9235440" y="1874520"/>
            <a:ext cx="219456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48</a:t>
            </a:r>
            <a:endParaRPr lang="en-US" sz="5400" dirty="0"/>
          </a:p>
        </p:txBody>
      </p:sp>
      <p:sp>
        <p:nvSpPr>
          <p:cNvPr id="18" name="Text 16"/>
          <p:cNvSpPr txBox="1"/>
          <p:nvPr/>
        </p:nvSpPr>
        <p:spPr>
          <a:xfrm>
            <a:off x="9235440" y="2834640"/>
            <a:ext cx="2194560" cy="365760"/>
          </a:xfrm>
          <a:prstGeom prst="rect">
            <a:avLst/>
          </a:prstGeom>
          <a:noFill/>
          <a:ln/>
        </p:spPr>
        <p:txBody>
          <a:bodyPr wrap="square" lIns="0" tIns="0" rIns="0" bIns="0" rtlCol="0" anchor="ctr"/>
          <a:lstStyle/>
          <a:p>
            <a:pPr algn="ctr" indent="0" marL="0">
              <a:buNone/>
            </a:pPr>
            <a:r>
              <a:rPr lang="en-US" sz="1600" b="1" dirty="0">
                <a:solidFill>
                  <a:schemeClr val="tx2"/>
                </a:solidFill>
              </a:rPr>
              <a:t>commits con autoría</a:t>
            </a:r>
            <a:endParaRPr lang="en-US" sz="1600" dirty="0"/>
          </a:p>
        </p:txBody>
      </p:sp>
      <p:sp>
        <p:nvSpPr>
          <p:cNvPr id="19" name="Text 17"/>
          <p:cNvSpPr txBox="1"/>
          <p:nvPr/>
        </p:nvSpPr>
        <p:spPr>
          <a:xfrm>
            <a:off x="9235440" y="3200400"/>
            <a:ext cx="2194560" cy="822960"/>
          </a:xfrm>
          <a:prstGeom prst="rect">
            <a:avLst/>
          </a:prstGeom>
          <a:noFill/>
          <a:ln/>
        </p:spPr>
        <p:txBody>
          <a:bodyPr wrap="square" lIns="0" tIns="0" rIns="0" bIns="0" rtlCol="0" anchor="t"/>
          <a:lstStyle/>
          <a:p>
            <a:pPr algn="ctr" indent="0" marL="0">
              <a:buNone/>
            </a:pPr>
            <a:r>
              <a:rPr lang="en-US" sz="1200" dirty="0">
                <a:solidFill>
                  <a:schemeClr val="accent4"/>
                </a:solidFill>
              </a:rPr>
              <a:t>29 de Joaquín y 19 de Gonzalo</a:t>
            </a:r>
            <a:endParaRPr lang="en-US" sz="1200" dirty="0"/>
          </a:p>
        </p:txBody>
      </p:sp>
      <p:sp>
        <p:nvSpPr>
          <p:cNvPr id="20" name="Text 18"/>
          <p:cNvSpPr txBox="1"/>
          <p:nvPr/>
        </p:nvSpPr>
        <p:spPr>
          <a:xfrm>
            <a:off x="548640" y="4434840"/>
            <a:ext cx="5486400" cy="365760"/>
          </a:xfrm>
          <a:prstGeom prst="rect">
            <a:avLst/>
          </a:prstGeom>
          <a:noFill/>
          <a:ln/>
        </p:spPr>
        <p:txBody>
          <a:bodyPr wrap="square" lIns="0" tIns="0" rIns="0" bIns="0" rtlCol="0" anchor="ctr"/>
          <a:lstStyle/>
          <a:p>
            <a:pPr indent="0" marL="0">
              <a:buNone/>
            </a:pPr>
            <a:r>
              <a:rPr lang="en-US" sz="1500" b="1" dirty="0">
                <a:solidFill>
                  <a:schemeClr val="tx2"/>
                </a:solidFill>
              </a:rPr>
              <a:t>Evidencias en el repositorio</a:t>
            </a:r>
            <a:endParaRPr lang="en-US" sz="1500" dirty="0"/>
          </a:p>
        </p:txBody>
      </p:sp>
      <p:sp>
        <p:nvSpPr>
          <p:cNvPr id="21" name="Text 19"/>
          <p:cNvSpPr txBox="1"/>
          <p:nvPr/>
        </p:nvSpPr>
        <p:spPr>
          <a:xfrm>
            <a:off x="548640" y="4846320"/>
            <a:ext cx="5394960" cy="621792"/>
          </a:xfrm>
          <a:prstGeom prst="rect">
            <a:avLst/>
          </a:prstGeom>
          <a:noFill/>
          <a:ln/>
        </p:spPr>
        <p:txBody>
          <a:bodyPr wrap="square" lIns="0" tIns="0" rIns="0" bIns="0" rtlCol="0" anchor="t"/>
          <a:lstStyle/>
          <a:p>
            <a:pPr indent="0" marL="0">
              <a:buNone/>
            </a:pPr>
            <a:r>
              <a:rPr lang="en-US" sz="1300" b="1" dirty="0">
                <a:solidFill>
                  <a:schemeClr val="accent1"/>
                </a:solidFill>
              </a:rPr>
              <a:t>Fase 2/Evidencias Proyecto (version Agil)</a:t>
            </a:r>
            <a:endParaRPr lang="en-US" sz="1300" dirty="0"/>
          </a:p>
          <a:p>
            <a:pPr indent="0" marL="0">
              <a:buNone/>
            </a:pPr>
            <a:r>
              <a:rPr lang="en-US" sz="1300" dirty="0">
                <a:solidFill>
                  <a:schemeClr val="tx1"/>
                </a:solidFill>
              </a:rPr>
              <a:t>Product Vision, Backlog, DoD y Diseño</a:t>
            </a:r>
            <a:endParaRPr lang="en-US" sz="1300" dirty="0"/>
          </a:p>
        </p:txBody>
      </p:sp>
      <p:sp>
        <p:nvSpPr>
          <p:cNvPr id="22" name="Text 20"/>
          <p:cNvSpPr txBox="1"/>
          <p:nvPr/>
        </p:nvSpPr>
        <p:spPr>
          <a:xfrm>
            <a:off x="6126480" y="4846320"/>
            <a:ext cx="5394960" cy="621792"/>
          </a:xfrm>
          <a:prstGeom prst="rect">
            <a:avLst/>
          </a:prstGeom>
          <a:noFill/>
          <a:ln/>
        </p:spPr>
        <p:txBody>
          <a:bodyPr wrap="square" lIns="0" tIns="0" rIns="0" bIns="0" rtlCol="0" anchor="t"/>
          <a:lstStyle/>
          <a:p>
            <a:pPr indent="0" marL="0">
              <a:buNone/>
            </a:pPr>
            <a:r>
              <a:rPr lang="en-US" sz="1300" b="1" dirty="0">
                <a:solidFill>
                  <a:schemeClr val="accent1"/>
                </a:solidFill>
              </a:rPr>
              <a:t>src/main y src/test</a:t>
            </a:r>
            <a:endParaRPr lang="en-US" sz="1300" dirty="0"/>
          </a:p>
          <a:p>
            <a:pPr indent="0" marL="0">
              <a:buNone/>
            </a:pPr>
            <a:r>
              <a:rPr lang="en-US" sz="1300" dirty="0">
                <a:solidFill>
                  <a:schemeClr val="tx1"/>
                </a:solidFill>
              </a:rPr>
              <a:t>Código en capas y sus pruebas</a:t>
            </a:r>
            <a:endParaRPr lang="en-US" sz="1300" dirty="0"/>
          </a:p>
        </p:txBody>
      </p:sp>
      <p:sp>
        <p:nvSpPr>
          <p:cNvPr id="23" name="Text 21"/>
          <p:cNvSpPr txBox="1"/>
          <p:nvPr/>
        </p:nvSpPr>
        <p:spPr>
          <a:xfrm>
            <a:off x="548640" y="5504688"/>
            <a:ext cx="5394960" cy="621792"/>
          </a:xfrm>
          <a:prstGeom prst="rect">
            <a:avLst/>
          </a:prstGeom>
          <a:noFill/>
          <a:ln/>
        </p:spPr>
        <p:txBody>
          <a:bodyPr wrap="square" lIns="0" tIns="0" rIns="0" bIns="0" rtlCol="0" anchor="t"/>
          <a:lstStyle/>
          <a:p>
            <a:pPr indent="0" marL="0">
              <a:buNone/>
            </a:pPr>
            <a:r>
              <a:rPr lang="en-US" sz="1300" b="1" dirty="0">
                <a:solidFill>
                  <a:schemeClr val="accent1"/>
                </a:solidFill>
              </a:rPr>
              <a:t>docs/evidencias/semana-08</a:t>
            </a:r>
            <a:endParaRPr lang="en-US" sz="1300" dirty="0"/>
          </a:p>
          <a:p>
            <a:pPr indent="0" marL="0">
              <a:buNone/>
            </a:pPr>
            <a:r>
              <a:rPr lang="en-US" sz="1300" dirty="0">
                <a:solidFill>
                  <a:schemeClr val="tx1"/>
                </a:solidFill>
              </a:rPr>
              <a:t>Capturas de cada historia</a:t>
            </a:r>
            <a:endParaRPr lang="en-US" sz="1300" dirty="0"/>
          </a:p>
        </p:txBody>
      </p:sp>
      <p:sp>
        <p:nvSpPr>
          <p:cNvPr id="24" name="Text 22"/>
          <p:cNvSpPr txBox="1"/>
          <p:nvPr/>
        </p:nvSpPr>
        <p:spPr>
          <a:xfrm>
            <a:off x="6126480" y="5504688"/>
            <a:ext cx="5394960" cy="621792"/>
          </a:xfrm>
          <a:prstGeom prst="rect">
            <a:avLst/>
          </a:prstGeom>
          <a:noFill/>
          <a:ln/>
        </p:spPr>
        <p:txBody>
          <a:bodyPr wrap="square" lIns="0" tIns="0" rIns="0" bIns="0" rtlCol="0" anchor="t"/>
          <a:lstStyle/>
          <a:p>
            <a:pPr indent="0" marL="0">
              <a:buNone/>
            </a:pPr>
            <a:r>
              <a:rPr lang="en-US" sz="1300" b="1" dirty="0">
                <a:solidFill>
                  <a:schemeClr val="accent1"/>
                </a:solidFill>
              </a:rPr>
              <a:t>docs/08-decisiones.md</a:t>
            </a:r>
            <a:endParaRPr lang="en-US" sz="1300" dirty="0"/>
          </a:p>
          <a:p>
            <a:pPr indent="0" marL="0">
              <a:buNone/>
            </a:pPr>
            <a:r>
              <a:rPr lang="en-US" sz="1300" dirty="0">
                <a:solidFill>
                  <a:schemeClr val="tx1"/>
                </a:solidFill>
              </a:rPr>
              <a:t>13 decisiones con su fundamento</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40080"/>
          </a:xfrm>
          <a:prstGeom prst="rect">
            <a:avLst/>
          </a:prstGeom>
          <a:noFill/>
          <a:ln/>
        </p:spPr>
        <p:txBody>
          <a:bodyPr wrap="square" rtlCol="0" anchor="ctr"/>
          <a:lstStyle/>
          <a:p>
            <a:pPr algn="l" indent="0" marL="0">
              <a:buNone/>
            </a:pPr>
            <a:r>
              <a:rPr lang="en-US" sz="3200" b="1" dirty="0">
                <a:solidFill>
                  <a:schemeClr val="tx2"/>
                </a:solidFill>
              </a:rPr>
              <a:t>Dificultades y ajustes</a:t>
            </a:r>
            <a:endParaRPr lang="en-US" sz="3200" dirty="0"/>
          </a:p>
        </p:txBody>
      </p:sp>
      <p:sp>
        <p:nvSpPr>
          <p:cNvPr id="3" name="Text 0"/>
          <p:cNvSpPr/>
          <p:nvPr>
            <p:ph idx="101" type="body" hasCustomPrompt="1"/>
          </p:nvPr>
        </p:nvSpPr>
        <p:spPr>
          <a:xfrm>
            <a:off x="548640" y="960120"/>
            <a:ext cx="11064240" cy="411480"/>
          </a:xfrm>
          <a:prstGeom prst="rect">
            <a:avLst/>
          </a:prstGeom>
          <a:noFill/>
          <a:ln/>
        </p:spPr>
        <p:txBody>
          <a:bodyPr wrap="square" rtlCol="0" anchor="t"/>
          <a:lstStyle/>
          <a:p>
            <a:pPr algn="l" indent="0" marL="0">
              <a:buNone/>
            </a:pPr>
            <a:r>
              <a:rPr lang="en-US" sz="1500" i="1" dirty="0">
                <a:solidFill>
                  <a:schemeClr val="accent4"/>
                </a:solidFill>
              </a:rPr>
              <a:t>Cada obstáculo se tradujo en un cambio concreto del plan o del proceso</a:t>
            </a:r>
            <a:endParaRPr lang="en-US" sz="1500" dirty="0"/>
          </a:p>
        </p:txBody>
      </p:sp>
      <p:sp>
        <p:nvSpPr>
          <p:cNvPr id="4" name="dificultad-1"/>
          <p:cNvSpPr/>
          <p:nvPr/>
        </p:nvSpPr>
        <p:spPr>
          <a:xfrm>
            <a:off x="548640" y="1645920"/>
            <a:ext cx="4846320" cy="914400"/>
          </a:xfrm>
          <a:prstGeom prst="roundRect">
            <a:avLst>
              <a:gd name="adj" fmla="val 8000"/>
            </a:avLst>
          </a:prstGeom>
          <a:solidFill>
            <a:srgbClr val="F2F3EA"/>
          </a:solidFill>
          <a:ln w="12700">
            <a:solidFill>
              <a:srgbClr val="F2F3EA"/>
            </a:solidFill>
            <a:prstDash val="solid"/>
          </a:ln>
        </p:spPr>
      </p:sp>
      <p:sp>
        <p:nvSpPr>
          <p:cNvPr id="5" name="Shape 3"/>
          <p:cNvSpPr/>
          <p:nvPr/>
        </p:nvSpPr>
        <p:spPr>
          <a:xfrm>
            <a:off x="731520" y="1828800"/>
            <a:ext cx="548640" cy="548640"/>
          </a:xfrm>
          <a:prstGeom prst="ellipse">
            <a:avLst/>
          </a:prstGeom>
          <a:solidFill>
            <a:srgbClr val="2E3A3F"/>
          </a:solidFill>
          <a:ln w="12700">
            <a:solidFill>
              <a:srgbClr val="2E3A3F"/>
            </a:solidFill>
            <a:prstDash val="solid"/>
          </a:ln>
        </p:spPr>
      </p:sp>
      <p:pic>
        <p:nvPicPr>
          <p:cNvPr id="6" name="Image 0" descr="preencoded.png">    </p:cNvPr>
          <p:cNvPicPr>
            <a:picLocks noChangeAspect="1"/>
          </p:cNvPicPr>
          <p:nvPr/>
        </p:nvPicPr>
        <p:blipFill>
          <a:blip r:embed="rId1"/>
          <a:stretch>
            <a:fillRect/>
          </a:stretch>
        </p:blipFill>
        <p:spPr>
          <a:xfrm>
            <a:off x="863194" y="1960474"/>
            <a:ext cx="285293" cy="285293"/>
          </a:xfrm>
          <a:prstGeom prst="rect">
            <a:avLst/>
          </a:prstGeom>
        </p:spPr>
      </p:pic>
      <p:sp>
        <p:nvSpPr>
          <p:cNvPr id="7" name="Text 4"/>
          <p:cNvSpPr txBox="1"/>
          <p:nvPr/>
        </p:nvSpPr>
        <p:spPr>
          <a:xfrm>
            <a:off x="1463040" y="1737360"/>
            <a:ext cx="3840480" cy="731520"/>
          </a:xfrm>
          <a:prstGeom prst="rect">
            <a:avLst/>
          </a:prstGeom>
          <a:noFill/>
          <a:ln/>
        </p:spPr>
        <p:txBody>
          <a:bodyPr wrap="square" lIns="0" tIns="0" rIns="0" bIns="0" rtlCol="0" anchor="ctr"/>
          <a:lstStyle/>
          <a:p>
            <a:pPr indent="0" marL="0">
              <a:buNone/>
            </a:pPr>
            <a:r>
              <a:rPr lang="en-US" sz="1500" b="1" dirty="0">
                <a:solidFill>
                  <a:schemeClr val="tx2"/>
                </a:solidFill>
              </a:rPr>
              <a:t>La empresa no continuó la colaboración</a:t>
            </a:r>
            <a:endParaRPr lang="en-US" sz="1500" dirty="0"/>
          </a:p>
        </p:txBody>
      </p:sp>
      <p:sp>
        <p:nvSpPr>
          <p:cNvPr id="8" name="Text 5"/>
          <p:cNvSpPr txBox="1"/>
          <p:nvPr/>
        </p:nvSpPr>
        <p:spPr>
          <a:xfrm>
            <a:off x="5440680" y="1874520"/>
            <a:ext cx="457200" cy="45720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9" name="ajuste-1"/>
          <p:cNvSpPr/>
          <p:nvPr/>
        </p:nvSpPr>
        <p:spPr>
          <a:xfrm>
            <a:off x="5943600" y="1645920"/>
            <a:ext cx="5669280" cy="914400"/>
          </a:xfrm>
          <a:prstGeom prst="roundRect">
            <a:avLst>
              <a:gd name="adj" fmla="val 8000"/>
            </a:avLst>
          </a:prstGeom>
          <a:solidFill>
            <a:srgbClr val="E7E8D1"/>
          </a:solidFill>
          <a:ln w="12700">
            <a:solidFill>
              <a:srgbClr val="E7E8D1"/>
            </a:solidFill>
            <a:prstDash val="solid"/>
          </a:ln>
        </p:spPr>
      </p:sp>
      <p:sp>
        <p:nvSpPr>
          <p:cNvPr id="10" name="Text 7"/>
          <p:cNvSpPr txBox="1"/>
          <p:nvPr/>
        </p:nvSpPr>
        <p:spPr>
          <a:xfrm>
            <a:off x="6172200" y="1719072"/>
            <a:ext cx="5303520" cy="768096"/>
          </a:xfrm>
          <a:prstGeom prst="rect">
            <a:avLst/>
          </a:prstGeom>
          <a:noFill/>
          <a:ln/>
        </p:spPr>
        <p:txBody>
          <a:bodyPr wrap="square" lIns="0" tIns="0" rIns="0" bIns="0" rtlCol="0" anchor="ctr"/>
          <a:lstStyle/>
          <a:p>
            <a:pPr indent="0" marL="0">
              <a:buNone/>
            </a:pPr>
            <a:r>
              <a:rPr lang="en-US" sz="1300" dirty="0">
                <a:solidFill>
                  <a:schemeClr val="tx1"/>
                </a:solidFill>
              </a:rPr>
              <a:t>Con autorización del docente se continúa sin cliente real; los supuestos del modelo pasan a ser decisiones de diseño declaradas.</a:t>
            </a:r>
            <a:endParaRPr lang="en-US" sz="1300" dirty="0"/>
          </a:p>
        </p:txBody>
      </p:sp>
      <p:sp>
        <p:nvSpPr>
          <p:cNvPr id="11" name="dificultad-2"/>
          <p:cNvSpPr/>
          <p:nvPr/>
        </p:nvSpPr>
        <p:spPr>
          <a:xfrm>
            <a:off x="548640" y="2724912"/>
            <a:ext cx="4846320" cy="914400"/>
          </a:xfrm>
          <a:prstGeom prst="roundRect">
            <a:avLst>
              <a:gd name="adj" fmla="val 8000"/>
            </a:avLst>
          </a:prstGeom>
          <a:solidFill>
            <a:srgbClr val="F2F3EA"/>
          </a:solidFill>
          <a:ln w="12700">
            <a:solidFill>
              <a:srgbClr val="F2F3EA"/>
            </a:solidFill>
            <a:prstDash val="solid"/>
          </a:ln>
        </p:spPr>
      </p:sp>
      <p:sp>
        <p:nvSpPr>
          <p:cNvPr id="12" name="Shape 9"/>
          <p:cNvSpPr/>
          <p:nvPr/>
        </p:nvSpPr>
        <p:spPr>
          <a:xfrm>
            <a:off x="731520" y="2907792"/>
            <a:ext cx="548640" cy="548640"/>
          </a:xfrm>
          <a:prstGeom prst="ellipse">
            <a:avLst/>
          </a:prstGeom>
          <a:solidFill>
            <a:srgbClr val="2E3A3F"/>
          </a:solidFill>
          <a:ln w="12700">
            <a:solidFill>
              <a:srgbClr val="2E3A3F"/>
            </a:solidFill>
            <a:prstDash val="solid"/>
          </a:ln>
        </p:spPr>
      </p:sp>
      <p:pic>
        <p:nvPicPr>
          <p:cNvPr id="13" name="Image 1" descr="preencoded.png">    </p:cNvPr>
          <p:cNvPicPr>
            <a:picLocks noChangeAspect="1"/>
          </p:cNvPicPr>
          <p:nvPr/>
        </p:nvPicPr>
        <p:blipFill>
          <a:blip r:embed="rId2"/>
          <a:stretch>
            <a:fillRect/>
          </a:stretch>
        </p:blipFill>
        <p:spPr>
          <a:xfrm>
            <a:off x="863194" y="3039466"/>
            <a:ext cx="285293" cy="285293"/>
          </a:xfrm>
          <a:prstGeom prst="rect">
            <a:avLst/>
          </a:prstGeom>
        </p:spPr>
      </p:pic>
      <p:sp>
        <p:nvSpPr>
          <p:cNvPr id="14" name="Text 10"/>
          <p:cNvSpPr txBox="1"/>
          <p:nvPr/>
        </p:nvSpPr>
        <p:spPr>
          <a:xfrm>
            <a:off x="1463040" y="2816352"/>
            <a:ext cx="3840480" cy="731520"/>
          </a:xfrm>
          <a:prstGeom prst="rect">
            <a:avLst/>
          </a:prstGeom>
          <a:noFill/>
          <a:ln/>
        </p:spPr>
        <p:txBody>
          <a:bodyPr wrap="square" lIns="0" tIns="0" rIns="0" bIns="0" rtlCol="0" anchor="ctr"/>
          <a:lstStyle/>
          <a:p>
            <a:pPr indent="0" marL="0">
              <a:buNone/>
            </a:pPr>
            <a:r>
              <a:rPr lang="en-US" sz="1500" b="1" dirty="0">
                <a:solidFill>
                  <a:schemeClr val="tx2"/>
                </a:solidFill>
              </a:rPr>
              <a:t>Plan con rangos de semanas, sin hitos verificables</a:t>
            </a:r>
            <a:endParaRPr lang="en-US" sz="1500" dirty="0"/>
          </a:p>
        </p:txBody>
      </p:sp>
      <p:sp>
        <p:nvSpPr>
          <p:cNvPr id="15" name="Text 11"/>
          <p:cNvSpPr txBox="1"/>
          <p:nvPr/>
        </p:nvSpPr>
        <p:spPr>
          <a:xfrm>
            <a:off x="5440680" y="2953512"/>
            <a:ext cx="457200" cy="45720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16" name="ajuste-2"/>
          <p:cNvSpPr/>
          <p:nvPr/>
        </p:nvSpPr>
        <p:spPr>
          <a:xfrm>
            <a:off x="5943600" y="2724912"/>
            <a:ext cx="5669280" cy="914400"/>
          </a:xfrm>
          <a:prstGeom prst="roundRect">
            <a:avLst>
              <a:gd name="adj" fmla="val 8000"/>
            </a:avLst>
          </a:prstGeom>
          <a:solidFill>
            <a:srgbClr val="E7E8D1"/>
          </a:solidFill>
          <a:ln w="12700">
            <a:solidFill>
              <a:srgbClr val="E7E8D1"/>
            </a:solidFill>
            <a:prstDash val="solid"/>
          </a:ln>
        </p:spPr>
      </p:sp>
      <p:sp>
        <p:nvSpPr>
          <p:cNvPr id="17" name="Text 13"/>
          <p:cNvSpPr txBox="1"/>
          <p:nvPr/>
        </p:nvSpPr>
        <p:spPr>
          <a:xfrm>
            <a:off x="6172200" y="2798064"/>
            <a:ext cx="5303520" cy="768096"/>
          </a:xfrm>
          <a:prstGeom prst="rect">
            <a:avLst/>
          </a:prstGeom>
          <a:noFill/>
          <a:ln/>
        </p:spPr>
        <p:txBody>
          <a:bodyPr wrap="square" lIns="0" tIns="0" rIns="0" bIns="0" rtlCol="0" anchor="ctr"/>
          <a:lstStyle/>
          <a:p>
            <a:pPr indent="0" marL="0">
              <a:buNone/>
            </a:pPr>
            <a:r>
              <a:rPr lang="en-US" sz="1300" dirty="0">
                <a:solidFill>
                  <a:schemeClr val="tx1"/>
                </a:solidFill>
              </a:rPr>
              <a:t>Sprints con demostración, Definition of Done escrita y una rama por semana con revisión cruzada.</a:t>
            </a:r>
            <a:endParaRPr lang="en-US" sz="1300" dirty="0"/>
          </a:p>
        </p:txBody>
      </p:sp>
      <p:sp>
        <p:nvSpPr>
          <p:cNvPr id="18" name="dificultad-3"/>
          <p:cNvSpPr/>
          <p:nvPr/>
        </p:nvSpPr>
        <p:spPr>
          <a:xfrm>
            <a:off x="548640" y="3803904"/>
            <a:ext cx="4846320" cy="914400"/>
          </a:xfrm>
          <a:prstGeom prst="roundRect">
            <a:avLst>
              <a:gd name="adj" fmla="val 8000"/>
            </a:avLst>
          </a:prstGeom>
          <a:solidFill>
            <a:srgbClr val="F2F3EA"/>
          </a:solidFill>
          <a:ln w="12700">
            <a:solidFill>
              <a:srgbClr val="F2F3EA"/>
            </a:solidFill>
            <a:prstDash val="solid"/>
          </a:ln>
        </p:spPr>
      </p:sp>
      <p:sp>
        <p:nvSpPr>
          <p:cNvPr id="19" name="Shape 15"/>
          <p:cNvSpPr/>
          <p:nvPr/>
        </p:nvSpPr>
        <p:spPr>
          <a:xfrm>
            <a:off x="731520" y="3986784"/>
            <a:ext cx="548640" cy="548640"/>
          </a:xfrm>
          <a:prstGeom prst="ellipse">
            <a:avLst/>
          </a:prstGeom>
          <a:solidFill>
            <a:srgbClr val="2E3A3F"/>
          </a:solidFill>
          <a:ln w="12700">
            <a:solidFill>
              <a:srgbClr val="2E3A3F"/>
            </a:solidFill>
            <a:prstDash val="solid"/>
          </a:ln>
        </p:spPr>
      </p:sp>
      <p:pic>
        <p:nvPicPr>
          <p:cNvPr id="20" name="Image 2" descr="preencoded.png">    </p:cNvPr>
          <p:cNvPicPr>
            <a:picLocks noChangeAspect="1"/>
          </p:cNvPicPr>
          <p:nvPr/>
        </p:nvPicPr>
        <p:blipFill>
          <a:blip r:embed="rId3"/>
          <a:stretch>
            <a:fillRect/>
          </a:stretch>
        </p:blipFill>
        <p:spPr>
          <a:xfrm>
            <a:off x="863194" y="4118458"/>
            <a:ext cx="285293" cy="285293"/>
          </a:xfrm>
          <a:prstGeom prst="rect">
            <a:avLst/>
          </a:prstGeom>
        </p:spPr>
      </p:pic>
      <p:sp>
        <p:nvSpPr>
          <p:cNvPr id="21" name="Text 16"/>
          <p:cNvSpPr txBox="1"/>
          <p:nvPr/>
        </p:nvSpPr>
        <p:spPr>
          <a:xfrm>
            <a:off x="1463040" y="3895344"/>
            <a:ext cx="3840480" cy="731520"/>
          </a:xfrm>
          <a:prstGeom prst="rect">
            <a:avLst/>
          </a:prstGeom>
          <a:noFill/>
          <a:ln/>
        </p:spPr>
        <p:txBody>
          <a:bodyPr wrap="square" lIns="0" tIns="0" rIns="0" bIns="0" rtlCol="0" anchor="ctr"/>
          <a:lstStyle/>
          <a:p>
            <a:pPr indent="0" marL="0">
              <a:buNone/>
            </a:pPr>
            <a:r>
              <a:rPr lang="en-US" sz="1500" b="1" dirty="0">
                <a:solidFill>
                  <a:schemeClr val="tx2"/>
                </a:solidFill>
              </a:rPr>
              <a:t>El entorno no levantaba la base de datos</a:t>
            </a:r>
            <a:endParaRPr lang="en-US" sz="1500" dirty="0"/>
          </a:p>
        </p:txBody>
      </p:sp>
      <p:sp>
        <p:nvSpPr>
          <p:cNvPr id="22" name="Text 17"/>
          <p:cNvSpPr txBox="1"/>
          <p:nvPr/>
        </p:nvSpPr>
        <p:spPr>
          <a:xfrm>
            <a:off x="5440680" y="4032504"/>
            <a:ext cx="457200" cy="45720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23" name="ajuste-3"/>
          <p:cNvSpPr/>
          <p:nvPr/>
        </p:nvSpPr>
        <p:spPr>
          <a:xfrm>
            <a:off x="5943600" y="3803904"/>
            <a:ext cx="5669280" cy="914400"/>
          </a:xfrm>
          <a:prstGeom prst="roundRect">
            <a:avLst>
              <a:gd name="adj" fmla="val 8000"/>
            </a:avLst>
          </a:prstGeom>
          <a:solidFill>
            <a:srgbClr val="E7E8D1"/>
          </a:solidFill>
          <a:ln w="12700">
            <a:solidFill>
              <a:srgbClr val="E7E8D1"/>
            </a:solidFill>
            <a:prstDash val="solid"/>
          </a:ln>
        </p:spPr>
      </p:sp>
      <p:sp>
        <p:nvSpPr>
          <p:cNvPr id="24" name="Text 19"/>
          <p:cNvSpPr txBox="1"/>
          <p:nvPr/>
        </p:nvSpPr>
        <p:spPr>
          <a:xfrm>
            <a:off x="6172200" y="3877056"/>
            <a:ext cx="5303520" cy="768096"/>
          </a:xfrm>
          <a:prstGeom prst="rect">
            <a:avLst/>
          </a:prstGeom>
          <a:noFill/>
          <a:ln/>
        </p:spPr>
        <p:txBody>
          <a:bodyPr wrap="square" lIns="0" tIns="0" rIns="0" bIns="0" rtlCol="0" anchor="ctr"/>
          <a:lstStyle/>
          <a:p>
            <a:pPr indent="0" marL="0">
              <a:buNone/>
            </a:pPr>
            <a:r>
              <a:rPr lang="en-US" sz="1300" dirty="0">
                <a:solidFill>
                  <a:schemeClr val="tx1"/>
                </a:solidFill>
              </a:rPr>
              <a:t>Resuelto. Ninguna migración se integra sin haberse ejecutado antes al menos una vez.</a:t>
            </a:r>
            <a:endParaRPr lang="en-US" sz="1300" dirty="0"/>
          </a:p>
        </p:txBody>
      </p:sp>
      <p:sp>
        <p:nvSpPr>
          <p:cNvPr id="25" name="dificultad-4"/>
          <p:cNvSpPr/>
          <p:nvPr/>
        </p:nvSpPr>
        <p:spPr>
          <a:xfrm>
            <a:off x="548640" y="4882896"/>
            <a:ext cx="4846320" cy="914400"/>
          </a:xfrm>
          <a:prstGeom prst="roundRect">
            <a:avLst>
              <a:gd name="adj" fmla="val 8000"/>
            </a:avLst>
          </a:prstGeom>
          <a:solidFill>
            <a:srgbClr val="F2F3EA"/>
          </a:solidFill>
          <a:ln w="12700">
            <a:solidFill>
              <a:srgbClr val="F2F3EA"/>
            </a:solidFill>
            <a:prstDash val="solid"/>
          </a:ln>
        </p:spPr>
      </p:sp>
      <p:sp>
        <p:nvSpPr>
          <p:cNvPr id="26" name="Shape 21"/>
          <p:cNvSpPr/>
          <p:nvPr/>
        </p:nvSpPr>
        <p:spPr>
          <a:xfrm>
            <a:off x="731520" y="5065776"/>
            <a:ext cx="548640" cy="548640"/>
          </a:xfrm>
          <a:prstGeom prst="ellipse">
            <a:avLst/>
          </a:prstGeom>
          <a:solidFill>
            <a:srgbClr val="2E3A3F"/>
          </a:solidFill>
          <a:ln w="12700">
            <a:solidFill>
              <a:srgbClr val="2E3A3F"/>
            </a:solidFill>
            <a:prstDash val="solid"/>
          </a:ln>
        </p:spPr>
      </p:sp>
      <p:pic>
        <p:nvPicPr>
          <p:cNvPr id="27" name="Image 3" descr="preencoded.png">    </p:cNvPr>
          <p:cNvPicPr>
            <a:picLocks noChangeAspect="1"/>
          </p:cNvPicPr>
          <p:nvPr/>
        </p:nvPicPr>
        <p:blipFill>
          <a:blip r:embed="rId4"/>
          <a:stretch>
            <a:fillRect/>
          </a:stretch>
        </p:blipFill>
        <p:spPr>
          <a:xfrm>
            <a:off x="863194" y="5197450"/>
            <a:ext cx="285293" cy="285293"/>
          </a:xfrm>
          <a:prstGeom prst="rect">
            <a:avLst/>
          </a:prstGeom>
        </p:spPr>
      </p:pic>
      <p:sp>
        <p:nvSpPr>
          <p:cNvPr id="28" name="Text 22"/>
          <p:cNvSpPr txBox="1"/>
          <p:nvPr/>
        </p:nvSpPr>
        <p:spPr>
          <a:xfrm>
            <a:off x="1463040" y="4974336"/>
            <a:ext cx="3840480" cy="731520"/>
          </a:xfrm>
          <a:prstGeom prst="rect">
            <a:avLst/>
          </a:prstGeom>
          <a:noFill/>
          <a:ln/>
        </p:spPr>
        <p:txBody>
          <a:bodyPr wrap="square" lIns="0" tIns="0" rIns="0" bIns="0" rtlCol="0" anchor="ctr"/>
          <a:lstStyle/>
          <a:p>
            <a:pPr indent="0" marL="0">
              <a:buNone/>
            </a:pPr>
            <a:r>
              <a:rPr lang="en-US" sz="1500" b="1" dirty="0">
                <a:solidFill>
                  <a:schemeClr val="tx2"/>
                </a:solidFill>
              </a:rPr>
              <a:t>Flyway no aplicaba las migraciones</a:t>
            </a:r>
            <a:endParaRPr lang="en-US" sz="1500" dirty="0"/>
          </a:p>
        </p:txBody>
      </p:sp>
      <p:sp>
        <p:nvSpPr>
          <p:cNvPr id="29" name="Text 23"/>
          <p:cNvSpPr txBox="1"/>
          <p:nvPr/>
        </p:nvSpPr>
        <p:spPr>
          <a:xfrm>
            <a:off x="5440680" y="5111496"/>
            <a:ext cx="457200" cy="45720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30" name="ajuste-4"/>
          <p:cNvSpPr/>
          <p:nvPr/>
        </p:nvSpPr>
        <p:spPr>
          <a:xfrm>
            <a:off x="5943600" y="4882896"/>
            <a:ext cx="5669280" cy="914400"/>
          </a:xfrm>
          <a:prstGeom prst="roundRect">
            <a:avLst>
              <a:gd name="adj" fmla="val 8000"/>
            </a:avLst>
          </a:prstGeom>
          <a:solidFill>
            <a:srgbClr val="E7E8D1"/>
          </a:solidFill>
          <a:ln w="12700">
            <a:solidFill>
              <a:srgbClr val="E7E8D1"/>
            </a:solidFill>
            <a:prstDash val="solid"/>
          </a:ln>
        </p:spPr>
      </p:sp>
      <p:sp>
        <p:nvSpPr>
          <p:cNvPr id="31" name="Text 25"/>
          <p:cNvSpPr txBox="1"/>
          <p:nvPr/>
        </p:nvSpPr>
        <p:spPr>
          <a:xfrm>
            <a:off x="6172200" y="4956048"/>
            <a:ext cx="5303520" cy="768096"/>
          </a:xfrm>
          <a:prstGeom prst="rect">
            <a:avLst/>
          </a:prstGeom>
          <a:noFill/>
          <a:ln/>
        </p:spPr>
        <p:txBody>
          <a:bodyPr wrap="square" lIns="0" tIns="0" rIns="0" bIns="0" rtlCol="0" anchor="ctr"/>
          <a:lstStyle/>
          <a:p>
            <a:pPr indent="0" marL="0">
              <a:buNone/>
            </a:pPr>
            <a:r>
              <a:rPr lang="en-US" sz="1300" dirty="0">
                <a:solidFill>
                  <a:schemeClr val="tx1"/>
                </a:solidFill>
              </a:rPr>
              <a:t>Detectado al probarlas: se corrigió (decisión D12) y una prueba automatizada lo verifica.</a:t>
            </a:r>
            <a:endParaRPr lang="en-US" sz="1300" dirty="0"/>
          </a:p>
        </p:txBody>
      </p:sp>
      <p:sp>
        <p:nvSpPr>
          <p:cNvPr id="32" name="Text 26"/>
          <p:cNvSpPr txBox="1"/>
          <p:nvPr/>
        </p:nvSpPr>
        <p:spPr>
          <a:xfrm>
            <a:off x="548640" y="5989320"/>
            <a:ext cx="4846320" cy="274320"/>
          </a:xfrm>
          <a:prstGeom prst="rect">
            <a:avLst/>
          </a:prstGeom>
          <a:noFill/>
          <a:ln/>
        </p:spPr>
        <p:txBody>
          <a:bodyPr wrap="square" lIns="0" tIns="0" rIns="0" bIns="0" rtlCol="0" anchor="ctr"/>
          <a:lstStyle/>
          <a:p>
            <a:pPr indent="0" marL="0">
              <a:buNone/>
            </a:pPr>
            <a:r>
              <a:rPr lang="en-US" sz="1200" b="1" dirty="0">
                <a:solidFill>
                  <a:schemeClr val="accent4"/>
                </a:solidFill>
              </a:rPr>
              <a:t>Dificultad</a:t>
            </a:r>
            <a:endParaRPr lang="en-US" sz="1200" dirty="0"/>
          </a:p>
        </p:txBody>
      </p:sp>
      <p:sp>
        <p:nvSpPr>
          <p:cNvPr id="33" name="Text 27"/>
          <p:cNvSpPr txBox="1"/>
          <p:nvPr/>
        </p:nvSpPr>
        <p:spPr>
          <a:xfrm>
            <a:off x="5943600" y="5989320"/>
            <a:ext cx="5669280" cy="274320"/>
          </a:xfrm>
          <a:prstGeom prst="rect">
            <a:avLst/>
          </a:prstGeom>
          <a:noFill/>
          <a:ln/>
        </p:spPr>
        <p:txBody>
          <a:bodyPr wrap="square" lIns="0" tIns="0" rIns="0" bIns="0" rtlCol="0" anchor="ctr"/>
          <a:lstStyle/>
          <a:p>
            <a:pPr indent="0" marL="0">
              <a:buNone/>
            </a:pPr>
            <a:r>
              <a:rPr lang="en-US" sz="1200" b="1" dirty="0">
                <a:solidFill>
                  <a:schemeClr val="accent4"/>
                </a:solidFill>
              </a:rPr>
              <a:t>Ajuste aplicado</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40080"/>
          </a:xfrm>
          <a:prstGeom prst="rect">
            <a:avLst/>
          </a:prstGeom>
          <a:noFill/>
          <a:ln/>
        </p:spPr>
        <p:txBody>
          <a:bodyPr wrap="square" rtlCol="0" anchor="ctr"/>
          <a:lstStyle/>
          <a:p>
            <a:pPr algn="l" indent="0" marL="0">
              <a:buNone/>
            </a:pPr>
            <a:r>
              <a:rPr lang="en-US" sz="3200" b="1" dirty="0">
                <a:solidFill>
                  <a:schemeClr val="tx2"/>
                </a:solidFill>
              </a:rPr>
              <a:t>Competencias del perfil de egreso</a:t>
            </a:r>
            <a:endParaRPr lang="en-US" sz="3200" dirty="0"/>
          </a:p>
        </p:txBody>
      </p:sp>
      <p:sp>
        <p:nvSpPr>
          <p:cNvPr id="3" name="Text 0"/>
          <p:cNvSpPr/>
          <p:nvPr>
            <p:ph idx="101" type="body" hasCustomPrompt="1"/>
          </p:nvPr>
        </p:nvSpPr>
        <p:spPr>
          <a:xfrm>
            <a:off x="548640" y="960120"/>
            <a:ext cx="11064240" cy="411480"/>
          </a:xfrm>
          <a:prstGeom prst="rect">
            <a:avLst/>
          </a:prstGeom>
          <a:noFill/>
          <a:ln/>
        </p:spPr>
        <p:txBody>
          <a:bodyPr wrap="square" rtlCol="0" anchor="t"/>
          <a:lstStyle/>
          <a:p>
            <a:pPr algn="l" indent="0" marL="0">
              <a:buNone/>
            </a:pPr>
            <a:r>
              <a:rPr lang="en-US" sz="1500" i="1" dirty="0">
                <a:solidFill>
                  <a:schemeClr val="accent4"/>
                </a:solidFill>
              </a:rPr>
              <a:t>Cuatro competencias encadenadas, cada una con su evidencia en el proyecto</a:t>
            </a:r>
            <a:endParaRPr lang="en-US" sz="1500" dirty="0"/>
          </a:p>
        </p:txBody>
      </p:sp>
      <p:sp>
        <p:nvSpPr>
          <p:cNvPr id="4" name="competencia-1"/>
          <p:cNvSpPr/>
          <p:nvPr/>
        </p:nvSpPr>
        <p:spPr>
          <a:xfrm>
            <a:off x="548640" y="1645920"/>
            <a:ext cx="5440680" cy="1965960"/>
          </a:xfrm>
          <a:prstGeom prst="roundRect">
            <a:avLst>
              <a:gd name="adj" fmla="val 3721"/>
            </a:avLst>
          </a:prstGeom>
          <a:solidFill>
            <a:srgbClr val="E7E8D1"/>
          </a:solidFill>
          <a:ln w="12700">
            <a:solidFill>
              <a:srgbClr val="E7E8D1"/>
            </a:solidFill>
            <a:prstDash val="solid"/>
          </a:ln>
        </p:spPr>
      </p:sp>
      <p:sp>
        <p:nvSpPr>
          <p:cNvPr id="5" name="Shape 3"/>
          <p:cNvSpPr/>
          <p:nvPr/>
        </p:nvSpPr>
        <p:spPr>
          <a:xfrm>
            <a:off x="822960" y="1920240"/>
            <a:ext cx="566928" cy="566928"/>
          </a:xfrm>
          <a:prstGeom prst="ellipse">
            <a:avLst/>
          </a:prstGeom>
          <a:solidFill>
            <a:srgbClr val="B85042"/>
          </a:solidFill>
          <a:ln w="12700">
            <a:solidFill>
              <a:srgbClr val="B85042"/>
            </a:solidFill>
            <a:prstDash val="solid"/>
          </a:ln>
        </p:spPr>
      </p:sp>
      <p:pic>
        <p:nvPicPr>
          <p:cNvPr id="6" name="Image 0"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7" name="Text 4"/>
          <p:cNvSpPr txBox="1"/>
          <p:nvPr/>
        </p:nvSpPr>
        <p:spPr>
          <a:xfrm>
            <a:off x="1554480" y="1947672"/>
            <a:ext cx="4206240" cy="50292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Gestionar proyectos informáticos</a:t>
            </a:r>
            <a:endParaRPr lang="en-US" sz="1800" dirty="0"/>
          </a:p>
        </p:txBody>
      </p:sp>
      <p:sp>
        <p:nvSpPr>
          <p:cNvPr id="8" name="Text 5"/>
          <p:cNvSpPr txBox="1"/>
          <p:nvPr/>
        </p:nvSpPr>
        <p:spPr>
          <a:xfrm>
            <a:off x="822960" y="2606040"/>
            <a:ext cx="4937760" cy="868680"/>
          </a:xfrm>
          <a:prstGeom prst="rect">
            <a:avLst/>
          </a:prstGeom>
          <a:noFill/>
          <a:ln/>
        </p:spPr>
        <p:txBody>
          <a:bodyPr wrap="square" lIns="0" tIns="0" rIns="0" bIns="0" rtlCol="0" anchor="t"/>
          <a:lstStyle/>
          <a:p>
            <a:pPr indent="0" marL="0">
              <a:buNone/>
            </a:pPr>
            <a:r>
              <a:rPr lang="en-US" sz="1400" dirty="0">
                <a:solidFill>
                  <a:schemeClr val="tx1"/>
                </a:solidFill>
              </a:rPr>
              <a:t>Alcance en nueve épicas, plan con responsables, control del avance y ajustes con alternativas, como la contingencia del Sprint 3.</a:t>
            </a:r>
            <a:endParaRPr lang="en-US" sz="1400" dirty="0"/>
          </a:p>
        </p:txBody>
      </p:sp>
      <p:sp>
        <p:nvSpPr>
          <p:cNvPr id="9" name="competencia-2"/>
          <p:cNvSpPr/>
          <p:nvPr/>
        </p:nvSpPr>
        <p:spPr>
          <a:xfrm>
            <a:off x="6172200" y="1645920"/>
            <a:ext cx="5440680" cy="1965960"/>
          </a:xfrm>
          <a:prstGeom prst="roundRect">
            <a:avLst>
              <a:gd name="adj" fmla="val 3721"/>
            </a:avLst>
          </a:prstGeom>
          <a:solidFill>
            <a:srgbClr val="F2F3EA"/>
          </a:solidFill>
          <a:ln w="12700">
            <a:solidFill>
              <a:srgbClr val="F2F3EA"/>
            </a:solidFill>
            <a:prstDash val="solid"/>
          </a:ln>
        </p:spPr>
      </p:sp>
      <p:sp>
        <p:nvSpPr>
          <p:cNvPr id="10" name="Shape 7"/>
          <p:cNvSpPr/>
          <p:nvPr/>
        </p:nvSpPr>
        <p:spPr>
          <a:xfrm>
            <a:off x="6446520" y="1920240"/>
            <a:ext cx="566928" cy="566928"/>
          </a:xfrm>
          <a:prstGeom prst="ellipse">
            <a:avLst/>
          </a:prstGeom>
          <a:solidFill>
            <a:srgbClr val="B85042"/>
          </a:solidFill>
          <a:ln w="12700">
            <a:solidFill>
              <a:srgbClr val="B85042"/>
            </a:solidFill>
            <a:prstDash val="solid"/>
          </a:ln>
        </p:spPr>
      </p:sp>
      <p:pic>
        <p:nvPicPr>
          <p:cNvPr id="11" name="Image 1" descr="preencoded.png">    </p:cNvPr>
          <p:cNvPicPr>
            <a:picLocks noChangeAspect="1"/>
          </p:cNvPicPr>
          <p:nvPr/>
        </p:nvPicPr>
        <p:blipFill>
          <a:blip r:embed="rId2"/>
          <a:stretch>
            <a:fillRect/>
          </a:stretch>
        </p:blipFill>
        <p:spPr>
          <a:xfrm>
            <a:off x="6582583" y="2056303"/>
            <a:ext cx="294803" cy="294803"/>
          </a:xfrm>
          <a:prstGeom prst="rect">
            <a:avLst/>
          </a:prstGeom>
        </p:spPr>
      </p:pic>
      <p:sp>
        <p:nvSpPr>
          <p:cNvPr id="12" name="Text 8"/>
          <p:cNvSpPr txBox="1"/>
          <p:nvPr/>
        </p:nvSpPr>
        <p:spPr>
          <a:xfrm>
            <a:off x="7178040" y="1947672"/>
            <a:ext cx="4206240" cy="50292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Construir modelos de datos</a:t>
            </a:r>
            <a:endParaRPr lang="en-US" sz="1800" dirty="0"/>
          </a:p>
        </p:txBody>
      </p:sp>
      <p:sp>
        <p:nvSpPr>
          <p:cNvPr id="13" name="Text 9"/>
          <p:cNvSpPr txBox="1"/>
          <p:nvPr/>
        </p:nvSpPr>
        <p:spPr>
          <a:xfrm>
            <a:off x="6446520" y="2606040"/>
            <a:ext cx="4937760" cy="868680"/>
          </a:xfrm>
          <a:prstGeom prst="rect">
            <a:avLst/>
          </a:prstGeom>
          <a:noFill/>
          <a:ln/>
        </p:spPr>
        <p:txBody>
          <a:bodyPr wrap="square" lIns="0" tIns="0" rIns="0" bIns="0" rtlCol="0" anchor="t"/>
          <a:lstStyle/>
          <a:p>
            <a:pPr indent="0" marL="0">
              <a:buNone/>
            </a:pPr>
            <a:r>
              <a:rPr lang="en-US" sz="1400" dirty="0">
                <a:solidFill>
                  <a:schemeClr val="tx1"/>
                </a:solidFill>
              </a:rPr>
              <a:t>Cada equipo como unidad individual, 14 tablas con restricciones por empresa e historial de solo inserción, implementado con Flyway.</a:t>
            </a:r>
            <a:endParaRPr lang="en-US" sz="1400" dirty="0"/>
          </a:p>
        </p:txBody>
      </p:sp>
      <p:sp>
        <p:nvSpPr>
          <p:cNvPr id="14" name="competencia-3"/>
          <p:cNvSpPr/>
          <p:nvPr/>
        </p:nvSpPr>
        <p:spPr>
          <a:xfrm>
            <a:off x="548640" y="3840480"/>
            <a:ext cx="5440680" cy="1965960"/>
          </a:xfrm>
          <a:prstGeom prst="roundRect">
            <a:avLst>
              <a:gd name="adj" fmla="val 3721"/>
            </a:avLst>
          </a:prstGeom>
          <a:solidFill>
            <a:srgbClr val="F2F3EA"/>
          </a:solidFill>
          <a:ln w="12700">
            <a:solidFill>
              <a:srgbClr val="F2F3EA"/>
            </a:solidFill>
            <a:prstDash val="solid"/>
          </a:ln>
        </p:spPr>
      </p:sp>
      <p:sp>
        <p:nvSpPr>
          <p:cNvPr id="15" name="Shape 11"/>
          <p:cNvSpPr/>
          <p:nvPr/>
        </p:nvSpPr>
        <p:spPr>
          <a:xfrm>
            <a:off x="822960" y="4114800"/>
            <a:ext cx="566928" cy="566928"/>
          </a:xfrm>
          <a:prstGeom prst="ellipse">
            <a:avLst/>
          </a:prstGeom>
          <a:solidFill>
            <a:srgbClr val="B85042"/>
          </a:solidFill>
          <a:ln w="12700">
            <a:solidFill>
              <a:srgbClr val="B85042"/>
            </a:solidFill>
            <a:prstDash val="solid"/>
          </a:ln>
        </p:spPr>
      </p:sp>
      <p:pic>
        <p:nvPicPr>
          <p:cNvPr id="16" name="Image 2" descr="preencoded.png">    </p:cNvPr>
          <p:cNvPicPr>
            <a:picLocks noChangeAspect="1"/>
          </p:cNvPicPr>
          <p:nvPr/>
        </p:nvPicPr>
        <p:blipFill>
          <a:blip r:embed="rId3"/>
          <a:stretch>
            <a:fillRect/>
          </a:stretch>
        </p:blipFill>
        <p:spPr>
          <a:xfrm>
            <a:off x="959023" y="4250863"/>
            <a:ext cx="294803" cy="294803"/>
          </a:xfrm>
          <a:prstGeom prst="rect">
            <a:avLst/>
          </a:prstGeom>
        </p:spPr>
      </p:pic>
      <p:sp>
        <p:nvSpPr>
          <p:cNvPr id="17" name="Text 12"/>
          <p:cNvSpPr txBox="1"/>
          <p:nvPr/>
        </p:nvSpPr>
        <p:spPr>
          <a:xfrm>
            <a:off x="1554480" y="4142232"/>
            <a:ext cx="4206240" cy="50292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Desarrollar una solución de software</a:t>
            </a:r>
            <a:endParaRPr lang="en-US" sz="1800" dirty="0"/>
          </a:p>
        </p:txBody>
      </p:sp>
      <p:sp>
        <p:nvSpPr>
          <p:cNvPr id="18" name="Text 13"/>
          <p:cNvSpPr txBox="1"/>
          <p:nvPr/>
        </p:nvSpPr>
        <p:spPr>
          <a:xfrm>
            <a:off x="822960" y="4800600"/>
            <a:ext cx="4937760" cy="868680"/>
          </a:xfrm>
          <a:prstGeom prst="rect">
            <a:avLst/>
          </a:prstGeom>
          <a:noFill/>
          <a:ln/>
        </p:spPr>
        <p:txBody>
          <a:bodyPr wrap="square" lIns="0" tIns="0" rIns="0" bIns="0" rtlCol="0" anchor="t"/>
          <a:lstStyle/>
          <a:p>
            <a:pPr indent="0" marL="0">
              <a:buNone/>
            </a:pPr>
            <a:r>
              <a:rPr lang="en-US" sz="1400" dirty="0">
                <a:solidFill>
                  <a:schemeClr val="tx1"/>
                </a:solidFill>
              </a:rPr>
              <a:t>Monolito modular en capas con Spring Boot, seguridad por rol y transacciones que garantizan la consistencia.</a:t>
            </a:r>
            <a:endParaRPr lang="en-US" sz="1400" dirty="0"/>
          </a:p>
        </p:txBody>
      </p:sp>
      <p:sp>
        <p:nvSpPr>
          <p:cNvPr id="19" name="competencia-4"/>
          <p:cNvSpPr/>
          <p:nvPr/>
        </p:nvSpPr>
        <p:spPr>
          <a:xfrm>
            <a:off x="6172200" y="3840480"/>
            <a:ext cx="5440680" cy="1965960"/>
          </a:xfrm>
          <a:prstGeom prst="roundRect">
            <a:avLst>
              <a:gd name="adj" fmla="val 3721"/>
            </a:avLst>
          </a:prstGeom>
          <a:solidFill>
            <a:srgbClr val="E7E8D1"/>
          </a:solidFill>
          <a:ln w="12700">
            <a:solidFill>
              <a:srgbClr val="E7E8D1"/>
            </a:solidFill>
            <a:prstDash val="solid"/>
          </a:ln>
        </p:spPr>
      </p:sp>
      <p:sp>
        <p:nvSpPr>
          <p:cNvPr id="20" name="Shape 15"/>
          <p:cNvSpPr/>
          <p:nvPr/>
        </p:nvSpPr>
        <p:spPr>
          <a:xfrm>
            <a:off x="6446520" y="4114800"/>
            <a:ext cx="566928" cy="566928"/>
          </a:xfrm>
          <a:prstGeom prst="ellipse">
            <a:avLst/>
          </a:prstGeom>
          <a:solidFill>
            <a:srgbClr val="B85042"/>
          </a:solidFill>
          <a:ln w="12700">
            <a:solidFill>
              <a:srgbClr val="B85042"/>
            </a:solidFill>
            <a:prstDash val="solid"/>
          </a:ln>
        </p:spPr>
      </p:sp>
      <p:pic>
        <p:nvPicPr>
          <p:cNvPr id="21" name="Image 3" descr="preencoded.png">    </p:cNvPr>
          <p:cNvPicPr>
            <a:picLocks noChangeAspect="1"/>
          </p:cNvPicPr>
          <p:nvPr/>
        </p:nvPicPr>
        <p:blipFill>
          <a:blip r:embed="rId4"/>
          <a:stretch>
            <a:fillRect/>
          </a:stretch>
        </p:blipFill>
        <p:spPr>
          <a:xfrm>
            <a:off x="6582583" y="4250863"/>
            <a:ext cx="294803" cy="294803"/>
          </a:xfrm>
          <a:prstGeom prst="rect">
            <a:avLst/>
          </a:prstGeom>
        </p:spPr>
      </p:pic>
      <p:sp>
        <p:nvSpPr>
          <p:cNvPr id="22" name="Text 16"/>
          <p:cNvSpPr txBox="1"/>
          <p:nvPr/>
        </p:nvSpPr>
        <p:spPr>
          <a:xfrm>
            <a:off x="7178040" y="4142232"/>
            <a:ext cx="4206240" cy="50292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Realizar pruebas de certificación</a:t>
            </a:r>
            <a:endParaRPr lang="en-US" sz="1800" dirty="0"/>
          </a:p>
        </p:txBody>
      </p:sp>
      <p:sp>
        <p:nvSpPr>
          <p:cNvPr id="23" name="Text 17"/>
          <p:cNvSpPr txBox="1"/>
          <p:nvPr/>
        </p:nvSpPr>
        <p:spPr>
          <a:xfrm>
            <a:off x="6446520" y="4800600"/>
            <a:ext cx="4937760" cy="868680"/>
          </a:xfrm>
          <a:prstGeom prst="rect">
            <a:avLst/>
          </a:prstGeom>
          <a:noFill/>
          <a:ln/>
        </p:spPr>
        <p:txBody>
          <a:bodyPr wrap="square" lIns="0" tIns="0" rIns="0" bIns="0" rtlCol="0" anchor="t"/>
          <a:lstStyle/>
          <a:p>
            <a:pPr indent="0" marL="0">
              <a:buNone/>
            </a:pPr>
            <a:r>
              <a:rPr lang="en-US" sz="1400" dirty="0">
                <a:solidFill>
                  <a:schemeClr val="tx1"/>
                </a:solidFill>
              </a:rPr>
              <a:t>30 casos de prueba diseñados, 29 pruebas automatizadas y mejoras del producto a partir de sus resultados.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40080"/>
          </a:xfrm>
          <a:prstGeom prst="rect">
            <a:avLst/>
          </a:prstGeom>
          <a:noFill/>
          <a:ln/>
        </p:spPr>
        <p:txBody>
          <a:bodyPr wrap="square" rtlCol="0" anchor="ctr"/>
          <a:lstStyle/>
          <a:p>
            <a:pPr algn="l" indent="0" marL="0">
              <a:buNone/>
            </a:pPr>
            <a:r>
              <a:rPr lang="en-US" sz="3200" b="1" dirty="0">
                <a:solidFill>
                  <a:schemeClr val="tx2"/>
                </a:solidFill>
              </a:rPr>
              <a:t>El proyecto y nuestro desarrollo profesional</a:t>
            </a:r>
            <a:endParaRPr lang="en-US" sz="3200" dirty="0"/>
          </a:p>
        </p:txBody>
      </p:sp>
      <p:sp>
        <p:nvSpPr>
          <p:cNvPr id="3" name="Text 0"/>
          <p:cNvSpPr/>
          <p:nvPr>
            <p:ph idx="101" type="body" hasCustomPrompt="1"/>
          </p:nvPr>
        </p:nvSpPr>
        <p:spPr>
          <a:xfrm>
            <a:off x="548640" y="960120"/>
            <a:ext cx="11064240" cy="411480"/>
          </a:xfrm>
          <a:prstGeom prst="rect">
            <a:avLst/>
          </a:prstGeom>
          <a:noFill/>
          <a:ln/>
        </p:spPr>
        <p:txBody>
          <a:bodyPr wrap="square" rtlCol="0" anchor="t"/>
          <a:lstStyle/>
          <a:p>
            <a:pPr algn="l" indent="0" marL="0">
              <a:buNone/>
            </a:pPr>
            <a:r>
              <a:rPr lang="en-US" sz="1500" i="1" dirty="0">
                <a:solidFill>
                  <a:schemeClr val="accent4"/>
                </a:solidFill>
              </a:rPr>
              <a:t>Cada integrante expone su propia relación con el proyecto</a:t>
            </a:r>
            <a:endParaRPr lang="en-US" sz="1500" dirty="0"/>
          </a:p>
        </p:txBody>
      </p:sp>
      <p:sp>
        <p:nvSpPr>
          <p:cNvPr id="4" name="persona-1"/>
          <p:cNvSpPr/>
          <p:nvPr/>
        </p:nvSpPr>
        <p:spPr>
          <a:xfrm>
            <a:off x="548640" y="1645920"/>
            <a:ext cx="5440680" cy="4023360"/>
          </a:xfrm>
          <a:prstGeom prst="roundRect">
            <a:avLst>
              <a:gd name="adj" fmla="val 1818"/>
            </a:avLst>
          </a:prstGeom>
          <a:solidFill>
            <a:srgbClr val="E7E8D1"/>
          </a:solidFill>
          <a:ln w="12700">
            <a:solidFill>
              <a:srgbClr val="E7E8D1"/>
            </a:solidFill>
            <a:prstDash val="solid"/>
          </a:ln>
        </p:spPr>
      </p:sp>
      <p:sp>
        <p:nvSpPr>
          <p:cNvPr id="5" name="Text 3"/>
          <p:cNvSpPr txBox="1"/>
          <p:nvPr/>
        </p:nvSpPr>
        <p:spPr>
          <a:xfrm>
            <a:off x="914400" y="1874520"/>
            <a:ext cx="4754880" cy="4572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Joaquín Romero</a:t>
            </a:r>
            <a:endParaRPr lang="en-US" sz="2200" dirty="0"/>
          </a:p>
        </p:txBody>
      </p:sp>
      <p:sp>
        <p:nvSpPr>
          <p:cNvPr id="6" name="Text 4"/>
          <p:cNvSpPr txBox="1"/>
          <p:nvPr/>
        </p:nvSpPr>
        <p:spPr>
          <a:xfrm>
            <a:off x="914400" y="2331720"/>
            <a:ext cx="4754880" cy="365760"/>
          </a:xfrm>
          <a:prstGeom prst="rect">
            <a:avLst/>
          </a:prstGeom>
          <a:noFill/>
          <a:ln/>
        </p:spPr>
        <p:txBody>
          <a:bodyPr wrap="square" lIns="0" tIns="0" rIns="0" bIns="0" rtlCol="0" anchor="ctr"/>
          <a:lstStyle/>
          <a:p>
            <a:pPr indent="0" marL="0">
              <a:buNone/>
            </a:pPr>
            <a:r>
              <a:rPr lang="en-US" sz="1400" b="1" dirty="0">
                <a:solidFill>
                  <a:schemeClr val="accent1"/>
                </a:solidFill>
              </a:rPr>
              <a:t>Backend y modelo de datos · líder técnico</a:t>
            </a:r>
            <a:endParaRPr lang="en-US" sz="1400" dirty="0"/>
          </a:p>
        </p:txBody>
      </p:sp>
      <p:sp>
        <p:nvSpPr>
          <p:cNvPr id="7" name="Text 5"/>
          <p:cNvSpPr txBox="1"/>
          <p:nvPr/>
        </p:nvSpPr>
        <p:spPr>
          <a:xfrm>
            <a:off x="914400" y="2880360"/>
            <a:ext cx="4754880" cy="3017520"/>
          </a:xfrm>
          <a:prstGeom prst="rect">
            <a:avLst/>
          </a:prstGeom>
          <a:noFill/>
          <a:ln/>
        </p:spPr>
        <p:txBody>
          <a:bodyPr wrap="square" lIns="0" tIns="0" rIns="0" bIns="0" rtlCol="0" anchor="t"/>
          <a:lstStyle/>
          <a:p>
            <a:pPr indent="0" marL="0">
              <a:lnSpc>
                <a:spcPct val="110000"/>
              </a:lnSpc>
              <a:buNone/>
            </a:pPr>
            <a:r>
              <a:rPr lang="en-US" sz="1500" dirty="0">
                <a:solidFill>
                  <a:schemeClr val="tx1"/>
                </a:solidFill>
              </a:rPr>
              <a:t>Mi interés está en el backend y en el diseño de bases de datos, la parte del software que sostiene las reglas del negocio. Mira me exigió lo que identifiqué como mis brechas: pruebas automatizadas y contenedores, que aquí son obligatorios. El atraso me enseñó que planificar y controlar es tan técnico como programar, y refuerza mi proyección hacia un rol de líder técnico.</a:t>
            </a:r>
            <a:endParaRPr lang="en-US" sz="1500" dirty="0"/>
          </a:p>
        </p:txBody>
      </p:sp>
      <p:sp>
        <p:nvSpPr>
          <p:cNvPr id="8" name="persona-2"/>
          <p:cNvSpPr/>
          <p:nvPr/>
        </p:nvSpPr>
        <p:spPr>
          <a:xfrm>
            <a:off x="6172200" y="1645920"/>
            <a:ext cx="5440680" cy="4023360"/>
          </a:xfrm>
          <a:prstGeom prst="roundRect">
            <a:avLst>
              <a:gd name="adj" fmla="val 1818"/>
            </a:avLst>
          </a:prstGeom>
          <a:solidFill>
            <a:srgbClr val="F2F3EA"/>
          </a:solidFill>
          <a:ln w="12700">
            <a:solidFill>
              <a:srgbClr val="F2F3EA"/>
            </a:solidFill>
            <a:prstDash val="solid"/>
          </a:ln>
        </p:spPr>
      </p:sp>
      <p:sp>
        <p:nvSpPr>
          <p:cNvPr id="9" name="Text 7"/>
          <p:cNvSpPr txBox="1"/>
          <p:nvPr/>
        </p:nvSpPr>
        <p:spPr>
          <a:xfrm>
            <a:off x="6537960" y="1874520"/>
            <a:ext cx="4754880" cy="4572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Gonzalo Arenas</a:t>
            </a:r>
            <a:endParaRPr lang="en-US" sz="2200" dirty="0"/>
          </a:p>
        </p:txBody>
      </p:sp>
      <p:sp>
        <p:nvSpPr>
          <p:cNvPr id="10" name="Text 8"/>
          <p:cNvSpPr txBox="1"/>
          <p:nvPr/>
        </p:nvSpPr>
        <p:spPr>
          <a:xfrm>
            <a:off x="6537960" y="2331720"/>
            <a:ext cx="4754880" cy="365760"/>
          </a:xfrm>
          <a:prstGeom prst="rect">
            <a:avLst/>
          </a:prstGeom>
          <a:noFill/>
          <a:ln/>
        </p:spPr>
        <p:txBody>
          <a:bodyPr wrap="square" lIns="0" tIns="0" rIns="0" bIns="0" rtlCol="0" anchor="ctr"/>
          <a:lstStyle/>
          <a:p>
            <a:pPr indent="0" marL="0">
              <a:buNone/>
            </a:pPr>
            <a:r>
              <a:rPr lang="en-US" sz="1400" b="1" dirty="0">
                <a:solidFill>
                  <a:schemeClr val="accent1"/>
                </a:solidFill>
              </a:rPr>
              <a:t>Frontend y análisis de datos</a:t>
            </a:r>
            <a:endParaRPr lang="en-US" sz="1400" dirty="0"/>
          </a:p>
        </p:txBody>
      </p:sp>
      <p:sp>
        <p:nvSpPr>
          <p:cNvPr id="11" name="Text 9"/>
          <p:cNvSpPr txBox="1"/>
          <p:nvPr/>
        </p:nvSpPr>
        <p:spPr>
          <a:xfrm>
            <a:off x="6537960" y="2880360"/>
            <a:ext cx="4754880" cy="3017520"/>
          </a:xfrm>
          <a:prstGeom prst="rect">
            <a:avLst/>
          </a:prstGeom>
          <a:noFill/>
          <a:ln/>
        </p:spPr>
        <p:txBody>
          <a:bodyPr wrap="square" lIns="0" tIns="0" rIns="0" bIns="0" rtlCol="0" anchor="t"/>
          <a:lstStyle/>
          <a:p>
            <a:pPr indent="0" marL="0">
              <a:lnSpc>
                <a:spcPct val="110000"/>
              </a:lnSpc>
              <a:buNone/>
            </a:pPr>
            <a:r>
              <a:rPr lang="en-US" sz="1500" dirty="0">
                <a:solidFill>
                  <a:schemeClr val="tx1"/>
                </a:solidFill>
              </a:rPr>
              <a:t>Mis intereses están en el desarrollo web y en el análisis de datos. En Mira asumí las vistas, el panel de indicadores y la documentación. El panel es mi puerta de entrada al análisis de datos y me obliga a fortalecer el modelado y las consultas. Provengo de la prevención de riesgos: este proyecto consolida mi transición al desarrollo de software.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8961120" y="4114800"/>
            <a:ext cx="3291840" cy="3291840"/>
          </a:xfrm>
          <a:prstGeom prst="ellipse">
            <a:avLst/>
          </a:prstGeom>
          <a:solidFill>
            <a:srgbClr val="3A484E"/>
          </a:solidFill>
          <a:ln w="12700">
            <a:solidFill>
              <a:srgbClr val="3A484E"/>
            </a:solidFill>
            <a:prstDash val="solid"/>
          </a:ln>
        </p:spPr>
      </p:sp>
      <p:sp>
        <p:nvSpPr>
          <p:cNvPr id="3" name="Shape 1"/>
          <p:cNvSpPr/>
          <p:nvPr/>
        </p:nvSpPr>
        <p:spPr>
          <a:xfrm>
            <a:off x="9418320" y="4572000"/>
            <a:ext cx="2377440" cy="2377440"/>
          </a:xfrm>
          <a:prstGeom prst="ellipse">
            <a:avLst/>
          </a:prstGeom>
          <a:solidFill>
            <a:srgbClr val="46555B"/>
          </a:solidFill>
          <a:ln w="12700">
            <a:solidFill>
              <a:srgbClr val="46555B"/>
            </a:solidFill>
            <a:prstDash val="solid"/>
          </a:ln>
        </p:spPr>
      </p:sp>
      <p:sp>
        <p:nvSpPr>
          <p:cNvPr id="4" name="Shape 2"/>
          <p:cNvSpPr/>
          <p:nvPr/>
        </p:nvSpPr>
        <p:spPr>
          <a:xfrm>
            <a:off x="9921240" y="5074920"/>
            <a:ext cx="1371600" cy="1371600"/>
          </a:xfrm>
          <a:prstGeom prst="ellipse">
            <a:avLst/>
          </a:prstGeom>
          <a:solidFill>
            <a:srgbClr val="B85042"/>
          </a:solidFill>
          <a:ln w="12700">
            <a:solidFill>
              <a:srgbClr val="B85042"/>
            </a:solidFill>
            <a:prstDash val="solid"/>
          </a:ln>
        </p:spPr>
      </p:sp>
      <p:sp>
        <p:nvSpPr>
          <p:cNvPr id="5" name="Text 0"/>
          <p:cNvSpPr/>
          <p:nvPr>
            <p:ph idx="100" type="title" hasCustomPrompt="1"/>
          </p:nvPr>
        </p:nvSpPr>
        <p:spPr>
          <a:xfrm>
            <a:off x="731520" y="548640"/>
            <a:ext cx="10515600" cy="822960"/>
          </a:xfrm>
          <a:prstGeom prst="rect">
            <a:avLst/>
          </a:prstGeom>
          <a:noFill/>
          <a:ln/>
        </p:spPr>
        <p:txBody>
          <a:bodyPr wrap="square" rtlCol="0"/>
          <a:lstStyle/>
          <a:p>
            <a:pPr algn="l" indent="0" marL="0">
              <a:buNone/>
            </a:pPr>
            <a:r>
              <a:rPr lang="en-US" sz="3600" b="1" dirty="0">
                <a:solidFill>
                  <a:schemeClr val="bg1"/>
                </a:solidFill>
              </a:rPr>
              <a:t>Próximos pasos</a:t>
            </a:r>
            <a:endParaRPr lang="en-US" sz="3600" dirty="0"/>
          </a:p>
        </p:txBody>
      </p:sp>
      <p:sp>
        <p:nvSpPr>
          <p:cNvPr id="6" name="Shape 4"/>
          <p:cNvSpPr/>
          <p:nvPr/>
        </p:nvSpPr>
        <p:spPr>
          <a:xfrm>
            <a:off x="731520" y="1737360"/>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73152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6"/>
          <p:cNvSpPr txBox="1"/>
          <p:nvPr/>
        </p:nvSpPr>
        <p:spPr>
          <a:xfrm>
            <a:off x="1417320" y="1691640"/>
            <a:ext cx="7772400" cy="365760"/>
          </a:xfrm>
          <a:prstGeom prst="rect">
            <a:avLst/>
          </a:prstGeom>
          <a:noFill/>
          <a:ln/>
        </p:spPr>
        <p:txBody>
          <a:bodyPr wrap="square" lIns="0" tIns="0" rIns="0" bIns="0" rtlCol="0" anchor="ctr"/>
          <a:lstStyle/>
          <a:p>
            <a:pPr indent="0" marL="0">
              <a:buNone/>
            </a:pPr>
            <a:r>
              <a:rPr lang="en-US" sz="1800" b="1" dirty="0">
                <a:solidFill>
                  <a:schemeClr val="bg1"/>
                </a:solidFill>
              </a:rPr>
              <a:t>Sprint 3 · semanas 10 y 11</a:t>
            </a:r>
            <a:endParaRPr lang="en-US" sz="1800" dirty="0"/>
          </a:p>
        </p:txBody>
      </p:sp>
      <p:sp>
        <p:nvSpPr>
          <p:cNvPr id="9" name="Text 7"/>
          <p:cNvSpPr txBox="1"/>
          <p:nvPr/>
        </p:nvSpPr>
        <p:spPr>
          <a:xfrm>
            <a:off x="1417320" y="2075688"/>
            <a:ext cx="7772400" cy="411480"/>
          </a:xfrm>
          <a:prstGeom prst="rect">
            <a:avLst/>
          </a:prstGeom>
          <a:noFill/>
          <a:ln/>
        </p:spPr>
        <p:txBody>
          <a:bodyPr wrap="square" lIns="0" tIns="0" rIns="0" bIns="0" rtlCol="0" anchor="ctr"/>
          <a:lstStyle/>
          <a:p>
            <a:pPr indent="0" marL="0">
              <a:buNone/>
            </a:pPr>
            <a:r>
              <a:rPr lang="en-US" sz="1500" dirty="0">
                <a:solidFill>
                  <a:schemeClr val="accent5"/>
                </a:solidFill>
              </a:rPr>
              <a:t>Traslados entre bodegas y disponibilidad consolidada en una sola pantalla.</a:t>
            </a:r>
            <a:endParaRPr lang="en-US" sz="1500" dirty="0"/>
          </a:p>
        </p:txBody>
      </p:sp>
      <p:sp>
        <p:nvSpPr>
          <p:cNvPr id="10" name="Shape 8"/>
          <p:cNvSpPr/>
          <p:nvPr/>
        </p:nvSpPr>
        <p:spPr>
          <a:xfrm>
            <a:off x="731520" y="2724912"/>
            <a:ext cx="457200" cy="457200"/>
          </a:xfrm>
          <a:prstGeom prst="ellipse">
            <a:avLst/>
          </a:prstGeom>
          <a:solidFill>
            <a:schemeClr val="accent1"/>
          </a:solidFill>
          <a:ln w="12700">
            <a:solidFill>
              <a:schemeClr val="accent1"/>
            </a:solidFill>
            <a:prstDash val="solid"/>
          </a:ln>
        </p:spPr>
      </p:sp>
      <p:sp>
        <p:nvSpPr>
          <p:cNvPr id="11" name="Text 9"/>
          <p:cNvSpPr txBox="1"/>
          <p:nvPr/>
        </p:nvSpPr>
        <p:spPr>
          <a:xfrm>
            <a:off x="731520" y="272491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10"/>
          <p:cNvSpPr txBox="1"/>
          <p:nvPr/>
        </p:nvSpPr>
        <p:spPr>
          <a:xfrm>
            <a:off x="1417320" y="2679192"/>
            <a:ext cx="7772400" cy="365760"/>
          </a:xfrm>
          <a:prstGeom prst="rect">
            <a:avLst/>
          </a:prstGeom>
          <a:noFill/>
          <a:ln/>
        </p:spPr>
        <p:txBody>
          <a:bodyPr wrap="square" lIns="0" tIns="0" rIns="0" bIns="0" rtlCol="0" anchor="ctr"/>
          <a:lstStyle/>
          <a:p>
            <a:pPr indent="0" marL="0">
              <a:buNone/>
            </a:pPr>
            <a:r>
              <a:rPr lang="en-US" sz="1800" b="1" dirty="0">
                <a:solidFill>
                  <a:schemeClr val="bg1"/>
                </a:solidFill>
              </a:rPr>
              <a:t>Sprint 4 · semanas 12 y 13</a:t>
            </a:r>
            <a:endParaRPr lang="en-US" sz="1800" dirty="0"/>
          </a:p>
        </p:txBody>
      </p:sp>
      <p:sp>
        <p:nvSpPr>
          <p:cNvPr id="13" name="Text 11"/>
          <p:cNvSpPr txBox="1"/>
          <p:nvPr/>
        </p:nvSpPr>
        <p:spPr>
          <a:xfrm>
            <a:off x="1417320" y="3063240"/>
            <a:ext cx="7772400" cy="411480"/>
          </a:xfrm>
          <a:prstGeom prst="rect">
            <a:avLst/>
          </a:prstGeom>
          <a:noFill/>
          <a:ln/>
        </p:spPr>
        <p:txBody>
          <a:bodyPr wrap="square" lIns="0" tIns="0" rIns="0" bIns="0" rtlCol="0" anchor="ctr"/>
          <a:lstStyle/>
          <a:p>
            <a:pPr indent="0" marL="0">
              <a:buNone/>
            </a:pPr>
            <a:r>
              <a:rPr lang="en-US" sz="1500" dirty="0">
                <a:solidFill>
                  <a:schemeClr val="accent5"/>
                </a:solidFill>
              </a:rPr>
              <a:t>Arriendos con control de retorno y alertas, y ventas.</a:t>
            </a:r>
            <a:endParaRPr lang="en-US" sz="1500" dirty="0"/>
          </a:p>
        </p:txBody>
      </p:sp>
      <p:sp>
        <p:nvSpPr>
          <p:cNvPr id="14" name="Shape 12"/>
          <p:cNvSpPr/>
          <p:nvPr/>
        </p:nvSpPr>
        <p:spPr>
          <a:xfrm>
            <a:off x="731520" y="3712464"/>
            <a:ext cx="457200" cy="457200"/>
          </a:xfrm>
          <a:prstGeom prst="ellipse">
            <a:avLst/>
          </a:prstGeom>
          <a:solidFill>
            <a:schemeClr val="accent1"/>
          </a:solidFill>
          <a:ln w="12700">
            <a:solidFill>
              <a:schemeClr val="accent1"/>
            </a:solidFill>
            <a:prstDash val="solid"/>
          </a:ln>
        </p:spPr>
      </p:sp>
      <p:sp>
        <p:nvSpPr>
          <p:cNvPr id="15" name="Text 13"/>
          <p:cNvSpPr txBox="1"/>
          <p:nvPr/>
        </p:nvSpPr>
        <p:spPr>
          <a:xfrm>
            <a:off x="731520" y="3712464"/>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4"/>
          <p:cNvSpPr txBox="1"/>
          <p:nvPr/>
        </p:nvSpPr>
        <p:spPr>
          <a:xfrm>
            <a:off x="1417320" y="3666744"/>
            <a:ext cx="7772400" cy="365760"/>
          </a:xfrm>
          <a:prstGeom prst="rect">
            <a:avLst/>
          </a:prstGeom>
          <a:noFill/>
          <a:ln/>
        </p:spPr>
        <p:txBody>
          <a:bodyPr wrap="square" lIns="0" tIns="0" rIns="0" bIns="0" rtlCol="0" anchor="ctr"/>
          <a:lstStyle/>
          <a:p>
            <a:pPr indent="0" marL="0">
              <a:buNone/>
            </a:pPr>
            <a:r>
              <a:rPr lang="en-US" sz="1800" b="1" dirty="0">
                <a:solidFill>
                  <a:schemeClr val="bg1"/>
                </a:solidFill>
              </a:rPr>
              <a:t>Sprint 5 · semanas 14 y 15</a:t>
            </a:r>
            <a:endParaRPr lang="en-US" sz="1800" dirty="0"/>
          </a:p>
        </p:txBody>
      </p:sp>
      <p:sp>
        <p:nvSpPr>
          <p:cNvPr id="17" name="Text 15"/>
          <p:cNvSpPr txBox="1"/>
          <p:nvPr/>
        </p:nvSpPr>
        <p:spPr>
          <a:xfrm>
            <a:off x="1417320" y="4050792"/>
            <a:ext cx="7772400" cy="411480"/>
          </a:xfrm>
          <a:prstGeom prst="rect">
            <a:avLst/>
          </a:prstGeom>
          <a:noFill/>
          <a:ln/>
        </p:spPr>
        <p:txBody>
          <a:bodyPr wrap="square" lIns="0" tIns="0" rIns="0" bIns="0" rtlCol="0" anchor="ctr"/>
          <a:lstStyle/>
          <a:p>
            <a:pPr indent="0" marL="0">
              <a:buNone/>
            </a:pPr>
            <a:r>
              <a:rPr lang="en-US" sz="1500" dirty="0">
                <a:solidFill>
                  <a:schemeClr val="accent5"/>
                </a:solidFill>
              </a:rPr>
              <a:t>Capacitaciones, documentos de cada operación y panel de indicadores.</a:t>
            </a:r>
            <a:endParaRPr lang="en-US" sz="1500" dirty="0"/>
          </a:p>
        </p:txBody>
      </p:sp>
      <p:sp>
        <p:nvSpPr>
          <p:cNvPr id="18" name="Shape 16"/>
          <p:cNvSpPr/>
          <p:nvPr/>
        </p:nvSpPr>
        <p:spPr>
          <a:xfrm>
            <a:off x="731520" y="4700016"/>
            <a:ext cx="457200" cy="457200"/>
          </a:xfrm>
          <a:prstGeom prst="ellipse">
            <a:avLst/>
          </a:prstGeom>
          <a:solidFill>
            <a:schemeClr val="accent1"/>
          </a:solidFill>
          <a:ln w="12700">
            <a:solidFill>
              <a:schemeClr val="accent1"/>
            </a:solidFill>
            <a:prstDash val="solid"/>
          </a:ln>
        </p:spPr>
      </p:sp>
      <p:sp>
        <p:nvSpPr>
          <p:cNvPr id="19" name="Text 17"/>
          <p:cNvSpPr txBox="1"/>
          <p:nvPr/>
        </p:nvSpPr>
        <p:spPr>
          <a:xfrm>
            <a:off x="731520" y="4700016"/>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0" name="Text 18"/>
          <p:cNvSpPr txBox="1"/>
          <p:nvPr/>
        </p:nvSpPr>
        <p:spPr>
          <a:xfrm>
            <a:off x="1417320" y="4654296"/>
            <a:ext cx="7772400" cy="365760"/>
          </a:xfrm>
          <a:prstGeom prst="rect">
            <a:avLst/>
          </a:prstGeom>
          <a:noFill/>
          <a:ln/>
        </p:spPr>
        <p:txBody>
          <a:bodyPr wrap="square" lIns="0" tIns="0" rIns="0" bIns="0" rtlCol="0" anchor="ctr"/>
          <a:lstStyle/>
          <a:p>
            <a:pPr indent="0" marL="0">
              <a:buNone/>
            </a:pPr>
            <a:r>
              <a:rPr lang="en-US" sz="1800" b="1" dirty="0">
                <a:solidFill>
                  <a:schemeClr val="bg1"/>
                </a:solidFill>
              </a:rPr>
              <a:t>Semana 16</a:t>
            </a:r>
            <a:endParaRPr lang="en-US" sz="1800" dirty="0"/>
          </a:p>
        </p:txBody>
      </p:sp>
      <p:sp>
        <p:nvSpPr>
          <p:cNvPr id="21" name="Text 19"/>
          <p:cNvSpPr txBox="1"/>
          <p:nvPr/>
        </p:nvSpPr>
        <p:spPr>
          <a:xfrm>
            <a:off x="1417320" y="5038344"/>
            <a:ext cx="7772400" cy="411480"/>
          </a:xfrm>
          <a:prstGeom prst="rect">
            <a:avLst/>
          </a:prstGeom>
          <a:noFill/>
          <a:ln/>
        </p:spPr>
        <p:txBody>
          <a:bodyPr wrap="square" lIns="0" tIns="0" rIns="0" bIns="0" rtlCol="0" anchor="ctr"/>
          <a:lstStyle/>
          <a:p>
            <a:pPr indent="0" marL="0">
              <a:buNone/>
            </a:pPr>
            <a:r>
              <a:rPr lang="en-US" sz="1500" dirty="0">
                <a:solidFill>
                  <a:schemeClr val="accent5"/>
                </a:solidFill>
              </a:rPr>
              <a:t>Implantación con Docker en el ambiente de demostración.</a:t>
            </a:r>
            <a:endParaRPr lang="en-US" sz="1500" dirty="0"/>
          </a:p>
        </p:txBody>
      </p:sp>
      <p:sp>
        <p:nvSpPr>
          <p:cNvPr id="22" name="Text 20"/>
          <p:cNvSpPr txBox="1"/>
          <p:nvPr/>
        </p:nvSpPr>
        <p:spPr>
          <a:xfrm>
            <a:off x="731520" y="5806440"/>
            <a:ext cx="8046720" cy="457200"/>
          </a:xfrm>
          <a:prstGeom prst="rect">
            <a:avLst/>
          </a:prstGeom>
          <a:noFill/>
          <a:ln/>
        </p:spPr>
        <p:txBody>
          <a:bodyPr wrap="square" lIns="0" tIns="0" rIns="0" bIns="0" rtlCol="0" anchor="ctr"/>
          <a:lstStyle/>
          <a:p>
            <a:pPr indent="0" marL="0">
              <a:buNone/>
            </a:pPr>
            <a:r>
              <a:rPr lang="en-US" sz="1600" b="1" i="1" dirty="0">
                <a:solidFill>
                  <a:schemeClr val="accent6"/>
                </a:solidFill>
              </a:rPr>
              <a:t>A continuación: video de demostración del sistema (3 minutos)</a:t>
            </a:r>
            <a:endParaRPr lang="en-US" sz="1600" dirty="0"/>
          </a:p>
        </p:txBody>
      </p:sp>
    </p:spTree>
  </p:cSld>
  <p:clrMapOvr>
    <a:masterClrMapping/>
  </p:clrMapOvr>
</p:sld>
</file>

<file path=ppt/theme/theme1.xml><?xml version="1.0" encoding="utf-8"?>
<a:theme xmlns:a="http://schemas.openxmlformats.org/drawingml/2006/main" name="Mira">
  <a:themeElements>
    <a:clrScheme name="Mira">
      <a:dk1>
        <a:srgbClr val="2B2B2B"/>
      </a:dk1>
      <a:lt1>
        <a:srgbClr val="FFFFFF"/>
      </a:lt1>
      <a:dk2>
        <a:srgbClr val="2E3A3F"/>
      </a:dk2>
      <a:lt2>
        <a:srgbClr val="F2F3EA"/>
      </a:lt2>
      <a:accent1>
        <a:srgbClr val="B85042"/>
      </a:accent1>
      <a:accent2>
        <a:srgbClr val="A7BEAE"/>
      </a:accent2>
      <a:accent3>
        <a:srgbClr val="E7E8D1"/>
      </a:accent3>
      <a:accent4>
        <a:srgbClr val="6E6E6E"/>
      </a:accent4>
      <a:accent5>
        <a:srgbClr val="9FB0B5"/>
      </a:accent5>
      <a:accent6>
        <a:srgbClr val="E09A80"/>
      </a:accent6>
      <a:hlink>
        <a:srgbClr val="B85042"/>
      </a:hlink>
      <a:folHlink>
        <a:srgbClr val="6E6E6E"/>
      </a:folHlink>
    </a:clrScheme>
    <a:fontScheme name="Mir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Duoc 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Mira · Informe de avance Fase 2</dc:title>
  <dc:subject>PptxGenJS Presentation</dc:subject>
  <dc:creator>Joaquín Romero, Gonzalo Arenas</dc:creator>
  <cp:lastModifiedBy>Joaquín Romero, Gonzalo Arenas</cp:lastModifiedBy>
  <cp:revision>1</cp:revision>
  <dcterms:created xsi:type="dcterms:W3CDTF">2026-10-16T02:09:46Z</dcterms:created>
  <dcterms:modified xsi:type="dcterms:W3CDTF">2026-10-16T02:09:46Z</dcterms:modified>
</cp:coreProperties>
</file>